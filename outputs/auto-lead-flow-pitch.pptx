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b985478dfd4862" /><Relationship Type="http://schemas.openxmlformats.org/officeDocument/2006/relationships/extended-properties" Target="/docProps/app.xml" Id="R947c785b26234083" /><Relationship Type="http://schemas.openxmlformats.org/officeDocument/2006/relationships/officeDocument" Target="/ppt/presentation.xml" Id="R8cd6ed8a26304a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772cef8b8b41de"/>
  </p:sldMasterIdLst>
  <p:notesMasterIdLst>
    <p:notesMasterId xmlns:r="http://schemas.openxmlformats.org/officeDocument/2006/relationships" r:id="R683bf0fdb9784fa8"/>
  </p:notesMasterIdLst>
  <p:sldIdLst>
    <p:sldId xmlns:r="http://schemas.openxmlformats.org/officeDocument/2006/relationships" id="256" r:id="R9068ccfe50204fed"/>
    <p:sldId xmlns:r="http://schemas.openxmlformats.org/officeDocument/2006/relationships" id="257" r:id="Rdd23e321b024490d"/>
    <p:sldId xmlns:r="http://schemas.openxmlformats.org/officeDocument/2006/relationships" id="258" r:id="R418224d99bd34d61"/>
    <p:sldId xmlns:r="http://schemas.openxmlformats.org/officeDocument/2006/relationships" id="259" r:id="Re51683b78b444960"/>
    <p:sldId xmlns:r="http://schemas.openxmlformats.org/officeDocument/2006/relationships" id="260" r:id="R42367bc9442b4be6"/>
    <p:sldId xmlns:r="http://schemas.openxmlformats.org/officeDocument/2006/relationships" id="261" r:id="Rec138df21882458c"/>
    <p:sldId xmlns:r="http://schemas.openxmlformats.org/officeDocument/2006/relationships" id="262" r:id="Rebcbbce21f394367"/>
    <p:sldId xmlns:r="http://schemas.openxmlformats.org/officeDocument/2006/relationships" id="263" r:id="R17be149c6a3b4f30"/>
    <p:sldId xmlns:r="http://schemas.openxmlformats.org/officeDocument/2006/relationships" id="264" r:id="R9489b7ffbd83439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0d52bce5ac452b" /><Relationship Type="http://schemas.openxmlformats.org/officeDocument/2006/relationships/slideMaster" Target="/ppt/slideMasters/slideMaster1.xml" Id="R01772cef8b8b41de" /><Relationship Type="http://schemas.openxmlformats.org/officeDocument/2006/relationships/notesMaster" Target="/ppt/notesMasters/notesMaster1.xml" Id="R683bf0fdb9784fa8" /><Relationship Type="http://schemas.openxmlformats.org/officeDocument/2006/relationships/presProps" Target="/ppt/presProps.xml" Id="R038d986fd37841bb" /><Relationship Type="http://schemas.openxmlformats.org/officeDocument/2006/relationships/tableStyles" Target="/ppt/tableStyles.xml" Id="R54e51bd2407f48f4" /><Relationship Type="http://schemas.openxmlformats.org/officeDocument/2006/relationships/slide" Target="/ppt/slides/slide1.xml" Id="R9068ccfe50204fed" /><Relationship Type="http://schemas.openxmlformats.org/officeDocument/2006/relationships/slide" Target="/ppt/slides/slide2.xml" Id="Rdd23e321b024490d" /><Relationship Type="http://schemas.openxmlformats.org/officeDocument/2006/relationships/slide" Target="/ppt/slides/slide3.xml" Id="R418224d99bd34d61" /><Relationship Type="http://schemas.openxmlformats.org/officeDocument/2006/relationships/slide" Target="/ppt/slides/slide4.xml" Id="Re51683b78b444960" /><Relationship Type="http://schemas.openxmlformats.org/officeDocument/2006/relationships/slide" Target="/ppt/slides/slide5.xml" Id="R42367bc9442b4be6" /><Relationship Type="http://schemas.openxmlformats.org/officeDocument/2006/relationships/slide" Target="/ppt/slides/slide6.xml" Id="Rec138df21882458c" /><Relationship Type="http://schemas.openxmlformats.org/officeDocument/2006/relationships/slide" Target="/ppt/slides/slide7.xml" Id="Rebcbbce21f394367" /><Relationship Type="http://schemas.openxmlformats.org/officeDocument/2006/relationships/slide" Target="/ppt/slides/slide8.xml" Id="R17be149c6a3b4f30" /><Relationship Type="http://schemas.openxmlformats.org/officeDocument/2006/relationships/slide" Target="/ppt/slides/slide9.xml" Id="R9489b7ffbd8343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f9555f549f4f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ee3a74385b47e1" /><Relationship Type="http://schemas.openxmlformats.org/officeDocument/2006/relationships/notesMaster" Target="/ppt/notesMasters/notesMaster1.xml" Id="Rb5a5d31911ea49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a1558aaae846b3" /><Relationship Type="http://schemas.openxmlformats.org/officeDocument/2006/relationships/notesMaster" Target="/ppt/notesMasters/notesMaster1.xml" Id="Ra967f0ecddc04b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29fd693c984918" /><Relationship Type="http://schemas.openxmlformats.org/officeDocument/2006/relationships/notesMaster" Target="/ppt/notesMasters/notesMaster1.xml" Id="Rcc58aac9af1d4c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2ed6c9056a408c" /><Relationship Type="http://schemas.openxmlformats.org/officeDocument/2006/relationships/notesMaster" Target="/ppt/notesMasters/notesMaster1.xml" Id="R9ba9099e060141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d3c53bd95d4bc5" /><Relationship Type="http://schemas.openxmlformats.org/officeDocument/2006/relationships/notesMaster" Target="/ppt/notesMasters/notesMaster1.xml" Id="R033502f5720a4c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c061dc1c6d4844" /><Relationship Type="http://schemas.openxmlformats.org/officeDocument/2006/relationships/notesMaster" Target="/ppt/notesMasters/notesMaster1.xml" Id="R36fb0fcc9ed24b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30a5c74b5143c9" /><Relationship Type="http://schemas.openxmlformats.org/officeDocument/2006/relationships/notesMaster" Target="/ppt/notesMasters/notesMaster1.xml" Id="R57d2d7e0633048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5ada63c2aa45ef" /><Relationship Type="http://schemas.openxmlformats.org/officeDocument/2006/relationships/notesMaster" Target="/ppt/notesMasters/notesMaster1.xml" Id="Rfbe69f38cc294c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14c8127edd4d54" /><Relationship Type="http://schemas.openxmlformats.org/officeDocument/2006/relationships/notesMaster" Target="/ppt/notesMasters/notesMaster1.xml" Id="R43dc370061f449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simple story: social intent already exists online, but sales teams still find and message people manually. Auto Lead Flow automates discovery, qualification, real-phone outreach, and follow-up.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anchor the pain. The customer problem is not just CRM storage: the manual work starts on social platforms before the lead exists in a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demo scenario starts from a concrete social signal. The system turns unstructured text into a structured lead profile.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product definition slide. Emphasize that real outreach is part of the workflow, not just a dashboard simulation.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maps directly to the live demo order. Keep it moving: discover, extract, score, send, poll, continue.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core capability list should make judges remember the differentiators: discovery, phone outreach, configurable playbooks, memory-driven follow-up.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Walrus as business trust: source proof, decision proof, trace proof, and handoff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point is extensibility: configure fields and strategy through playbooks rather than hardcoding real estate forever.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repeating the one-line message. Auto Lead Flow converts social intent into real, verifiable outreach.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284932dec4d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9b1f7ae64d4703" /><Relationship Type="http://schemas.openxmlformats.org/officeDocument/2006/relationships/slideLayout" Target="/ppt/slideLayouts/slideLayout1.xml" Id="Rce7510d844cb43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7510d844cb43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90d1758e64aa4" /><Relationship Type="http://schemas.openxmlformats.org/officeDocument/2006/relationships/image" Target="/ppt/media/image.png" Id="Raa134148254a4f9d" /><Relationship Type="http://schemas.openxmlformats.org/officeDocument/2006/relationships/notesSlide" Target="/ppt/notesSlides/notesSlide1.xml" Id="R703a7b41170c45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b353d2d2d4a03" /><Relationship Type="http://schemas.openxmlformats.org/officeDocument/2006/relationships/notesSlide" Target="/ppt/notesSlides/notesSlide2.xml" Id="R901ebd286a2344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343e42cd9447c" /><Relationship Type="http://schemas.openxmlformats.org/officeDocument/2006/relationships/notesSlide" Target="/ppt/notesSlides/notesSlide3.xml" Id="R14449919469f4c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46edc1d094021" /><Relationship Type="http://schemas.openxmlformats.org/officeDocument/2006/relationships/notesSlide" Target="/ppt/notesSlides/notesSlide4.xml" Id="R2b6ad3cd918a42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f1f8112354b01" /><Relationship Type="http://schemas.openxmlformats.org/officeDocument/2006/relationships/notesSlide" Target="/ppt/notesSlides/notesSlide5.xml" Id="R074e9e1b99914b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5f8a4a55145fe" /><Relationship Type="http://schemas.openxmlformats.org/officeDocument/2006/relationships/notesSlide" Target="/ppt/notesSlides/notesSlide6.xml" Id="R01e75b990f9d41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4a85792a84691" /><Relationship Type="http://schemas.openxmlformats.org/officeDocument/2006/relationships/notesSlide" Target="/ppt/notesSlides/notesSlide7.xml" Id="Rf7d3862aec1b40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56901b9194583" /><Relationship Type="http://schemas.openxmlformats.org/officeDocument/2006/relationships/notesSlide" Target="/ppt/notesSlides/notesSlide8.xml" Id="R92a23e60a6f64b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3dba5ee354b11" /><Relationship Type="http://schemas.openxmlformats.org/officeDocument/2006/relationships/image" Target="/ppt/media/image2.png" Id="R171223c9d346441c" /><Relationship Type="http://schemas.openxmlformats.org/officeDocument/2006/relationships/notesSlide" Target="/ppt/notesSlides/notesSlide9.xml" Id="R12de77326b3b42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34148254a4f9d"/>
          <a:stretch xmlns:a="http://schemas.openxmlformats.org/drawingml/2006/main"/>
        </p:blipFill>
        <p:spPr>
          <a:xfrm xmlns:a="http://schemas.openxmlformats.org/drawingml/2006/main">
            <a:off x="7334250" y="83820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3DE70-8D72-4512-9AE4-F45AE7ED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628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3B3A"/>
                </a:solidFill>
              </a:defRPr>
            </a:pPr>
            <a:r>
              <a:rPr sz="4800" b="1">
                <a:solidFill>
                  <a:srgbClr val="103B3A"/>
                </a:solidFill>
              </a:rPr>
              <a:t>Auto Lead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A9817-E6F5-479A-BA3B-64733346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619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F766E"/>
                </a:solidFill>
              </a:defRPr>
            </a:pPr>
            <a:r>
              <a:rPr sz="2100" b="0">
                <a:solidFill>
                  <a:srgbClr val="0F766E"/>
                </a:solidFill>
              </a:rPr>
              <a:t>Verifiable Social Lead Automation</a:t>
            </a:r>
          </a:p>
          <a:p xmlns:a="http://schemas.openxmlformats.org/drawingml/2006/main">
            <a:pPr algn="l">
              <a:defRPr sz="2100" b="0">
                <a:solidFill>
                  <a:srgbClr val="0F766E"/>
                </a:solidFill>
              </a:defRPr>
            </a:pPr>
            <a:r>
              <a:rPr sz="2100" b="0">
                <a:solidFill>
                  <a:srgbClr val="0F766E"/>
                </a:solidFill>
              </a:rPr>
              <a:t>for Configurable Sales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AEA1F-03D7-4954-935A-42AC36F3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06E"/>
                </a:solidFill>
              </a:defRPr>
            </a:pPr>
            <a:r>
              <a:rPr sz="1500" b="0">
                <a:solidFill>
                  <a:srgbClr val="58706E"/>
                </a:solidFill>
              </a:rPr>
              <a:t>Automated social lead discovery, real outreach, and persistent follow-up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7AD5B-660F-4851-9244-9EC88458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Discover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F900E-48AA-49BB-A47D-88383FB3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7200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Qualify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31A9A-87C9-48F8-8393-CA0B2183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57725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B9C8"/>
          </a:solidFill>
          <a:ln xmlns:a="http://schemas.openxmlformats.org/drawingml/2006/main" w="0">
            <a:solidFill>
              <a:srgbClr val="13B9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6974C-BC33-462B-A71E-FA319D49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7200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9734D"/>
                </a:solidFill>
              </a:defRPr>
            </a:pPr>
            <a:r>
              <a:rPr sz="1050" b="1">
                <a:solidFill>
                  <a:srgbClr val="F9734D"/>
                </a:solidFill>
              </a:rPr>
              <a:t>Outreach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2F522-9FFE-46BC-9C7C-E80CFDFD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57725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4D"/>
          </a:solidFill>
          <a:ln xmlns:a="http://schemas.openxmlformats.org/drawingml/2006/main" w="0">
            <a:solidFill>
              <a:srgbClr val="F973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92BFB-A7E1-4D13-BC09-440377ED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7200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Follow-up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7B13E-6094-47CC-B421-06A5D417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57725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B9C8"/>
          </a:solidFill>
          <a:ln xmlns:a="http://schemas.openxmlformats.org/drawingml/2006/main" w="0">
            <a:solidFill>
              <a:srgbClr val="13B9C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446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05BD24-7B79-47C5-8954-28687F49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3A"/>
                </a:solidFill>
              </a:defRPr>
            </a:pPr>
            <a:r>
              <a:rPr sz="2700" b="1">
                <a:solidFill>
                  <a:srgbClr val="103B3A"/>
                </a:solidFill>
              </a:rPr>
              <a:t>Social Lead Generation Is Still Too Manual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345ED-4148-4A1C-94E1-E3D74C75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E"/>
                </a:solidFill>
              </a:defRPr>
            </a:pPr>
            <a:r>
              <a:rPr sz="1350" b="0">
                <a:solidFill>
                  <a:srgbClr val="58706E"/>
                </a:solidFill>
              </a:rPr>
              <a:t>Social acquisition still depends on manual search, judgment, and repeated outreach.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B40F5-9075-4755-8834-7312E0BE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238500" cy="2781300"/>
          </a:xfrm>
          <a:prstGeom xmlns:a="http://schemas.openxmlformats.org/drawingml/2006/main" prst="roundRect">
            <a:avLst>
              <a:gd name="adj" fmla="val 75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447B2-DACB-41A8-93D3-1D358760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666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9C8"/>
          </a:solidFill>
          <a:ln xmlns:a="http://schemas.openxmlformats.org/drawingml/2006/main" w="0">
            <a:solidFill>
              <a:srgbClr val="13B9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14AB5-1571-4741-83D1-FC83A5DC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3B3A"/>
                </a:solidFill>
              </a:defRPr>
            </a:pPr>
            <a:r>
              <a:rPr sz="1650" b="1">
                <a:solidFill>
                  <a:srgbClr val="103B3A"/>
                </a:solidFill>
              </a:rPr>
              <a:t>Manual discovery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05023-9528-4AAE-981B-5EFF9C6F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27432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6E"/>
                </a:solidFill>
              </a:defRPr>
            </a:pPr>
            <a:r>
              <a:rPr sz="1275" b="0">
                <a:solidFill>
                  <a:srgbClr val="58706E"/>
                </a:solidFill>
              </a:rPr>
              <a:t>Sales teams scroll posts and comments to find people who may be ready to buy.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9330D-552E-483D-8446-1FBF179C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3238500" cy="2781300"/>
          </a:xfrm>
          <a:prstGeom xmlns:a="http://schemas.openxmlformats.org/drawingml/2006/main" prst="roundRect">
            <a:avLst>
              <a:gd name="adj" fmla="val 75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0FA16-4BFF-4960-817F-7AA57520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666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346DD-8A05-405F-A3D6-747E1A6B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19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3B3A"/>
                </a:solidFill>
              </a:defRPr>
            </a:pPr>
            <a:r>
              <a:rPr sz="1650" b="1">
                <a:solidFill>
                  <a:srgbClr val="103B3A"/>
                </a:solidFill>
              </a:rPr>
              <a:t>Scattered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0984E-3D7C-45C7-A7DF-636D0554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38400"/>
            <a:ext cx="27432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6E"/>
                </a:solidFill>
              </a:defRPr>
            </a:pPr>
            <a:r>
              <a:rPr sz="1275" b="0">
                <a:solidFill>
                  <a:srgbClr val="58706E"/>
                </a:solidFill>
              </a:rPr>
              <a:t>Budget, location, urgency, concerns, and past replies are split across conversations.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BF6FB-0274-4F09-B7BB-501A752F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238500" cy="2781300"/>
          </a:xfrm>
          <a:prstGeom xmlns:a="http://schemas.openxmlformats.org/drawingml/2006/main" prst="roundRect">
            <a:avLst>
              <a:gd name="adj" fmla="val 75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5330A-7286-4701-B336-665641B1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666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4D"/>
          </a:solidFill>
          <a:ln xmlns:a="http://schemas.openxmlformats.org/drawingml/2006/main" w="0">
            <a:solidFill>
              <a:srgbClr val="F973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0AE1E-F1B2-4F35-8E9B-CC83A266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19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3B3A"/>
                </a:solidFill>
              </a:defRPr>
            </a:pPr>
            <a:r>
              <a:rPr sz="1650" b="1">
                <a:solidFill>
                  <a:srgbClr val="103B3A"/>
                </a:solidFill>
              </a:rPr>
              <a:t>Hard to audit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59292-8F69-4638-9AEA-DE40EA2B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38400"/>
            <a:ext cx="27432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6E"/>
                </a:solidFill>
              </a:defRPr>
            </a:pPr>
            <a:r>
              <a:rPr sz="1275" b="0">
                <a:solidFill>
                  <a:srgbClr val="58706E"/>
                </a:solidFill>
              </a:rPr>
              <a:t>It is difficult to prove why a lead was scored or why a message was sent.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DDD00-4F86-4C72-B6FB-9141EA54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3B3A"/>
                </a:solidFill>
              </a:defRPr>
            </a:pPr>
            <a:r>
              <a:rPr sz="2100" b="1">
                <a:solidFill>
                  <a:srgbClr val="103B3A"/>
                </a:solidFill>
              </a:rPr>
              <a:t>High-frequency work, low automation, fragile memory.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CDFAD-4806-4BC5-9E0A-1A4C2F96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A09D"/>
                </a:solidFill>
              </a:defRPr>
            </a:pPr>
            <a:r>
              <a:rPr sz="750" b="0">
                <a:solidFill>
                  <a:srgbClr val="8CA09D"/>
                </a:solidFill>
              </a:rPr>
              <a:t>Auto Lead Flow  /  2</a:t>
            </a:r>
          </a:p>
        </p:txBody>
      </p:sp>
    </p:spTree>
    <p:extLst>
      <p:ext uri="{BB962C8B-B14F-4D97-AF65-F5344CB8AC3E}">
        <p14:creationId xmlns:p14="http://schemas.microsoft.com/office/powerpoint/2010/main" val="10390095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E9182D-A8CE-4EAF-87FC-3C5429F2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3A"/>
                </a:solidFill>
              </a:defRPr>
            </a:pPr>
            <a:r>
              <a:rPr sz="2700" b="1">
                <a:solidFill>
                  <a:srgbClr val="103B3A"/>
                </a:solidFill>
              </a:rPr>
              <a:t>High-intent Leads Already Express Needs Online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8EAE2-BC24-4E14-A324-B620D6D6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E"/>
                </a:solidFill>
              </a:defRPr>
            </a:pPr>
            <a:r>
              <a:rPr sz="1350" b="0">
                <a:solidFill>
                  <a:srgbClr val="58706E"/>
                </a:solidFill>
              </a:rPr>
              <a:t>Many potential customers already reveal clear buying needs in social content.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98F1F-CACE-4601-B710-9A83BA1A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5219700" cy="312420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5B8AE-3305-46BA-95AE-025D9D95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431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4D"/>
                </a:solidFill>
              </a:defRPr>
            </a:pPr>
            <a:r>
              <a:rPr sz="1050" b="1">
                <a:solidFill>
                  <a:srgbClr val="F9734D"/>
                </a:solidFill>
              </a:rPr>
              <a:t>Xiaohongshu post / comment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CEFFB-1C96-4BE6-902B-36C83900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81250"/>
            <a:ext cx="4343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3B3A"/>
                </a:solidFill>
              </a:defRPr>
            </a:pPr>
            <a:r>
              <a:rPr sz="2100" b="1">
                <a:solidFill>
                  <a:srgbClr val="103B3A"/>
                </a:solidFill>
              </a:rPr>
              <a:t>"Looking for a three-bedroom near the High-Tech District. Budget matters, and commute should be easy."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CC426-A7A0-440F-B375-E87FABF2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62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E"/>
                </a:solidFill>
              </a:defRPr>
            </a:pPr>
            <a:r>
              <a:rPr sz="1350" b="0">
                <a:solidFill>
                  <a:srgbClr val="58706E"/>
                </a:solidFill>
              </a:rPr>
              <a:t>This is not a cold lead. It is a visible buying signal.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811AD-6354-4223-B61A-3CDE07A9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00200"/>
            <a:ext cx="3905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BD640-02CD-43B9-A184-809B4D08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14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Budget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E351D-3B19-4EAF-AEE6-D6A80CB2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24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3B3A"/>
                </a:solidFill>
              </a:defRPr>
            </a:pPr>
            <a:r>
              <a:rPr sz="1275" b="0">
                <a:solidFill>
                  <a:srgbClr val="103B3A"/>
                </a:solidFill>
              </a:rPr>
              <a:t>price-sensitive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1C483-881C-45F0-A401-2F6F0B8E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0"/>
            <a:ext cx="3905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5F266-9E0E-4D7B-B434-AEE8E70B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003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Location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3D9B6-1033-403B-A483-0AEF229D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98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3B3A"/>
                </a:solidFill>
              </a:defRPr>
            </a:pPr>
            <a:r>
              <a:rPr sz="1275" b="0">
                <a:solidFill>
                  <a:srgbClr val="103B3A"/>
                </a:solidFill>
              </a:rPr>
              <a:t>high-tech district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255D8-79A9-4225-A584-352C995E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71800"/>
            <a:ext cx="3905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DD32B-9955-49EF-8B3A-B5676D5F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86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Layout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83AE6-5444-4919-AC09-72EAD29D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95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3B3A"/>
                </a:solidFill>
              </a:defRPr>
            </a:pPr>
            <a:r>
              <a:rPr sz="1275" b="0">
                <a:solidFill>
                  <a:srgbClr val="103B3A"/>
                </a:solidFill>
              </a:rPr>
              <a:t>three-bedroom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5C9FB-EA77-4707-B161-6C582EF1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3905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56B4E8-371C-43BA-8C33-20601543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71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Concern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974939-7366-46F7-9B0C-AEAF6B49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814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3B3A"/>
                </a:solidFill>
              </a:defRPr>
            </a:pPr>
            <a:r>
              <a:rPr sz="1275" b="0">
                <a:solidFill>
                  <a:srgbClr val="103B3A"/>
                </a:solidFill>
              </a:rPr>
              <a:t>commute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DBBB92-0048-4B5E-9C5C-FD38F219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43400"/>
            <a:ext cx="3905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A0CAC-E234-4A61-B8C6-B555A565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57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4D"/>
                </a:solidFill>
              </a:defRPr>
            </a:pPr>
            <a:r>
              <a:rPr sz="1350" b="1">
                <a:solidFill>
                  <a:srgbClr val="F9734D"/>
                </a:solidFill>
              </a:rPr>
              <a:t>Intent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D4C6CC-F65E-4E70-A0AC-F170369D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672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3B3A"/>
                </a:solidFill>
              </a:defRPr>
            </a:pPr>
            <a:r>
              <a:rPr sz="1275" b="0">
                <a:solidFill>
                  <a:srgbClr val="103B3A"/>
                </a:solidFill>
              </a:rPr>
              <a:t>active buyer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C8ABCB-0732-4E38-95E1-E578555A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A09D"/>
                </a:solidFill>
              </a:defRPr>
            </a:pPr>
            <a:r>
              <a:rPr sz="750" b="0">
                <a:solidFill>
                  <a:srgbClr val="8CA09D"/>
                </a:solidFill>
              </a:rPr>
              <a:t>Auto Lead Flow  /  3</a:t>
            </a:r>
          </a:p>
        </p:txBody>
      </p:sp>
    </p:spTree>
    <p:extLst>
      <p:ext uri="{BB962C8B-B14F-4D97-AF65-F5344CB8AC3E}">
        <p14:creationId xmlns:p14="http://schemas.microsoft.com/office/powerpoint/2010/main" val="14264930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5BDAA3-4EB1-4367-8700-C06FCFFF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3A"/>
                </a:solidFill>
              </a:defRPr>
            </a:pPr>
            <a:r>
              <a:rPr sz="2700" b="1">
                <a:solidFill>
                  <a:srgbClr val="103B3A"/>
                </a:solidFill>
              </a:rPr>
              <a:t>Auto Lead Flow: From Social Intent to Outreach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02A3A-3A92-49A6-B2FF-08B752CB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E"/>
                </a:solidFill>
              </a:defRPr>
            </a:pPr>
            <a:r>
              <a:rPr sz="1350" b="0">
                <a:solidFill>
                  <a:srgbClr val="58706E"/>
                </a:solidFill>
              </a:rPr>
              <a:t>A configurable sales-agent workflow for discovery, qualification, real outreach, and follow-up.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A14F6-5EE0-4196-A4C4-12E94357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2573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3B3A"/>
                </a:solidFill>
              </a:defRPr>
            </a:pPr>
            <a:r>
              <a:rPr sz="1350" b="1">
                <a:solidFill>
                  <a:srgbClr val="103B3A"/>
                </a:solidFill>
              </a:rPr>
              <a:t>Social</a:t>
            </a:r>
          </a:p>
          <a:p xmlns:a="http://schemas.openxmlformats.org/drawingml/2006/main">
            <a:pPr algn="ctr">
              <a:defRPr sz="1350" b="1">
                <a:solidFill>
                  <a:srgbClr val="103B3A"/>
                </a:solidFill>
              </a:defRPr>
            </a:pPr>
            <a:r>
              <a:rPr sz="1350" b="1">
                <a:solidFill>
                  <a:srgbClr val="103B3A"/>
                </a:solidFill>
              </a:rPr>
              <a:t>Listening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A4314-AB5F-43CC-9D29-627A0BF4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266950"/>
            <a:ext cx="12573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3B3A"/>
                </a:solidFill>
              </a:defRPr>
            </a:pPr>
            <a:r>
              <a:rPr sz="1350" b="1">
                <a:solidFill>
                  <a:srgbClr val="103B3A"/>
                </a:solidFill>
              </a:rPr>
              <a:t>Qualify</a:t>
            </a:r>
          </a:p>
          <a:p xmlns:a="http://schemas.openxmlformats.org/drawingml/2006/main">
            <a:pPr algn="ctr">
              <a:defRPr sz="1350" b="1">
                <a:solidFill>
                  <a:srgbClr val="103B3A"/>
                </a:solidFill>
              </a:defRPr>
            </a:pPr>
            <a:r>
              <a:rPr sz="1350" b="1">
                <a:solidFill>
                  <a:srgbClr val="103B3A"/>
                </a:solidFill>
              </a:rPr>
              <a:t>Lead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E4048-35A4-4FF3-B80B-1FB04BC8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2415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B9C8"/>
          </a:solidFill>
          <a:ln xmlns:a="http://schemas.openxmlformats.org/drawingml/2006/main" w="0">
            <a:solidFill>
              <a:srgbClr val="13B9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E80C3-10DD-427E-8254-B3F3C446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12573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3B3A"/>
                </a:solidFill>
              </a:defRPr>
            </a:pPr>
            <a:r>
              <a:rPr sz="1350" b="1">
                <a:solidFill>
                  <a:srgbClr val="103B3A"/>
                </a:solidFill>
              </a:rPr>
              <a:t>Memory</a:t>
            </a:r>
          </a:p>
          <a:p xmlns:a="http://schemas.openxmlformats.org/drawingml/2006/main">
            <a:pPr algn="ctr">
              <a:defRPr sz="1350" b="1">
                <a:solidFill>
                  <a:srgbClr val="103B3A"/>
                </a:solidFill>
              </a:defRPr>
            </a:pPr>
            <a:r>
              <a:rPr sz="1350" b="1">
                <a:solidFill>
                  <a:srgbClr val="103B3A"/>
                </a:solidFill>
              </a:rPr>
              <a:t>Recall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E8826-2A7E-414D-8BB4-3799FC4B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2415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B9C8"/>
          </a:solidFill>
          <a:ln xmlns:a="http://schemas.openxmlformats.org/drawingml/2006/main" w="0">
            <a:solidFill>
              <a:srgbClr val="13B9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223D8-A5D2-443A-A416-4B40210A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66950"/>
            <a:ext cx="12573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9734D"/>
                </a:solidFill>
              </a:defRPr>
            </a:pPr>
            <a:r>
              <a:rPr sz="1200" b="1">
                <a:solidFill>
                  <a:srgbClr val="F9734D"/>
                </a:solidFill>
              </a:rPr>
              <a:t>Real-device</a:t>
            </a:r>
          </a:p>
          <a:p xmlns:a="http://schemas.openxmlformats.org/drawingml/2006/main">
            <a:pPr algn="ctr">
              <a:defRPr sz="1200" b="1">
                <a:solidFill>
                  <a:srgbClr val="F9734D"/>
                </a:solidFill>
              </a:defRPr>
            </a:pPr>
            <a:r>
              <a:rPr sz="1200" b="1">
                <a:solidFill>
                  <a:srgbClr val="F9734D"/>
                </a:solidFill>
              </a:rPr>
              <a:t>Outreach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EF90B-DF0A-4540-9840-019A4A5D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2415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4D"/>
          </a:solidFill>
          <a:ln xmlns:a="http://schemas.openxmlformats.org/drawingml/2006/main" w="0">
            <a:solidFill>
              <a:srgbClr val="F973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8A2BF-83EE-4C16-B038-223FE019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12573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3B3A"/>
                </a:solidFill>
              </a:defRPr>
            </a:pPr>
            <a:r>
              <a:rPr sz="1350" b="1">
                <a:solidFill>
                  <a:srgbClr val="103B3A"/>
                </a:solidFill>
              </a:rPr>
              <a:t>Reply</a:t>
            </a:r>
          </a:p>
          <a:p xmlns:a="http://schemas.openxmlformats.org/drawingml/2006/main">
            <a:pPr algn="ctr">
              <a:defRPr sz="1350" b="1">
                <a:solidFill>
                  <a:srgbClr val="103B3A"/>
                </a:solidFill>
              </a:defRPr>
            </a:pPr>
            <a:r>
              <a:rPr sz="1350" b="1">
                <a:solidFill>
                  <a:srgbClr val="103B3A"/>
                </a:solidFill>
              </a:rPr>
              <a:t>Polling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8B849-5252-434E-AAB9-BA26CA30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72415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B9C8"/>
          </a:solidFill>
          <a:ln xmlns:a="http://schemas.openxmlformats.org/drawingml/2006/main" w="0">
            <a:solidFill>
              <a:srgbClr val="13B9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19FBC-95D9-4475-B70E-BD734D14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573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3B3A"/>
                </a:solidFill>
              </a:defRPr>
            </a:pPr>
            <a:r>
              <a:rPr sz="1350" b="1">
                <a:solidFill>
                  <a:srgbClr val="103B3A"/>
                </a:solidFill>
              </a:rPr>
              <a:t>Follow-up</a:t>
            </a:r>
          </a:p>
          <a:p xmlns:a="http://schemas.openxmlformats.org/drawingml/2006/main">
            <a:pPr algn="ctr">
              <a:defRPr sz="1350" b="1">
                <a:solidFill>
                  <a:srgbClr val="103B3A"/>
                </a:solidFill>
              </a:defRPr>
            </a:pPr>
            <a:r>
              <a:rPr sz="1350" b="1">
                <a:solidFill>
                  <a:srgbClr val="103B3A"/>
                </a:solidFill>
              </a:rPr>
              <a:t>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05B15-6238-42C5-BFB1-010129C1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2415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B9C8"/>
          </a:solidFill>
          <a:ln xmlns:a="http://schemas.openxmlformats.org/drawingml/2006/main" w="0">
            <a:solidFill>
              <a:srgbClr val="13B9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511BF-A590-4C68-AA09-A621F0AE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05300"/>
            <a:ext cx="910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3B3A"/>
                </a:solidFill>
              </a:defRPr>
            </a:pPr>
            <a:r>
              <a:rPr sz="1800" b="1">
                <a:solidFill>
                  <a:srgbClr val="103B3A"/>
                </a:solidFill>
              </a:rPr>
              <a:t>The agent role, industry scenario, tone, qualification fields, and follow-up strategy are configurable through playbooks.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88ADB-49D2-4E7B-BE0F-D552D7CA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67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706E"/>
                </a:solidFill>
              </a:defRPr>
            </a:pPr>
            <a:r>
              <a:rPr sz="1350" b="0">
                <a:solidFill>
                  <a:srgbClr val="58706E"/>
                </a:solidFill>
              </a:rPr>
              <a:t>Playbooks make the same engine adaptable across real estate and other social lead-generation scenarios.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827FB-9DBD-45CD-92B6-CA32C869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A09D"/>
                </a:solidFill>
              </a:defRPr>
            </a:pPr>
            <a:r>
              <a:rPr sz="750" b="0">
                <a:solidFill>
                  <a:srgbClr val="8CA09D"/>
                </a:solidFill>
              </a:rPr>
              <a:t>Auto Lead Flow  /  4</a:t>
            </a:r>
          </a:p>
        </p:txBody>
      </p:sp>
    </p:spTree>
    <p:extLst>
      <p:ext uri="{BB962C8B-B14F-4D97-AF65-F5344CB8AC3E}">
        <p14:creationId xmlns:p14="http://schemas.microsoft.com/office/powerpoint/2010/main" val="1805271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7D222D-C02B-41D2-942D-35AE3486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3A"/>
                </a:solidFill>
              </a:defRPr>
            </a:pPr>
            <a:r>
              <a:rPr sz="2700" b="1">
                <a:solidFill>
                  <a:srgbClr val="103B3A"/>
                </a:solidFill>
              </a:rPr>
              <a:t>Demo: From Xiaohongshu Signal to Real Outreach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EE98F-C99C-4712-BA35-3E22F8D5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E"/>
                </a:solidFill>
              </a:defRPr>
            </a:pPr>
            <a:r>
              <a:rPr sz="1350" b="0">
                <a:solidFill>
                  <a:srgbClr val="58706E"/>
                </a:solidFill>
              </a:rPr>
              <a:t>The demo shows the complete loop from social intent to real DM outreach and continued follow-up.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48ACC-AB9F-402B-880B-47EF357A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E137E-2102-4C76-9353-098CFFED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3B3A"/>
                </a:solidFill>
              </a:defRPr>
            </a:pPr>
            <a:r>
              <a:rPr sz="1350" b="1">
                <a:solidFill>
                  <a:srgbClr val="103B3A"/>
                </a:solidFill>
              </a:rPr>
              <a:t>Discover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F33E1-1709-472A-9DB8-B31F73EB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695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706E"/>
                </a:solidFill>
              </a:defRPr>
            </a:pPr>
            <a:r>
              <a:rPr sz="1050" b="0">
                <a:solidFill>
                  <a:srgbClr val="58706E"/>
                </a:solidFill>
              </a:rPr>
              <a:t>Find buyer intent in posts/comments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C527A-16B1-4E03-9293-47E292BD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CE0F0-6A34-41B0-9893-971F46A7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57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3B3A"/>
                </a:solidFill>
              </a:defRPr>
            </a:pPr>
            <a:r>
              <a:rPr sz="1350" b="1">
                <a:solidFill>
                  <a:srgbClr val="103B3A"/>
                </a:solidFill>
              </a:rPr>
              <a:t>Extract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327D8-9F1F-4D4F-ABDD-A0DA6090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81350"/>
            <a:ext cx="1695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706E"/>
                </a:solidFill>
              </a:defRPr>
            </a:pPr>
            <a:r>
              <a:rPr sz="1050" b="0">
                <a:solidFill>
                  <a:srgbClr val="58706E"/>
                </a:solidFill>
              </a:rPr>
              <a:t>Budget, location, layout, concerns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1FCBF-747E-4AD1-B71B-A361E296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0300"/>
            <a:ext cx="1123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B9C8"/>
          </a:solidFill>
          <a:ln xmlns:a="http://schemas.openxmlformats.org/drawingml/2006/main" w="0">
            <a:solidFill>
              <a:srgbClr val="13B9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51551-507D-42FB-A0C6-5E617E73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D911F-A645-431F-B3B6-F4F46013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57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3B3A"/>
                </a:solidFill>
              </a:defRPr>
            </a:pPr>
            <a:r>
              <a:rPr sz="1350" b="1">
                <a:solidFill>
                  <a:srgbClr val="103B3A"/>
                </a:solidFill>
              </a:rPr>
              <a:t>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1E605-948E-44F7-9C80-A86014E4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81350"/>
            <a:ext cx="1695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706E"/>
                </a:solidFill>
              </a:defRPr>
            </a:pPr>
            <a:r>
              <a:rPr sz="1050" b="0">
                <a:solidFill>
                  <a:srgbClr val="58706E"/>
                </a:solidFill>
              </a:rPr>
              <a:t>Decide whether the lead is worth outreach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6DF13-6198-4605-B060-829C1C9F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00300"/>
            <a:ext cx="1123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B9C8"/>
          </a:solidFill>
          <a:ln xmlns:a="http://schemas.openxmlformats.org/drawingml/2006/main" w="0">
            <a:solidFill>
              <a:srgbClr val="13B9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E0366-4C9A-426B-834A-13C5DD61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B5A35-94B5-4673-9480-EDC029B2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3B3A"/>
                </a:solidFill>
              </a:defRPr>
            </a:pPr>
            <a:r>
              <a:rPr sz="1350" b="1">
                <a:solidFill>
                  <a:srgbClr val="103B3A"/>
                </a:solidFill>
              </a:rPr>
              <a:t>Reach 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CD54F5-FE40-408E-B15F-B12AA5AD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1695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706E"/>
                </a:solidFill>
              </a:defRPr>
            </a:pPr>
            <a:r>
              <a:rPr sz="1050" b="0">
                <a:solidFill>
                  <a:srgbClr val="58706E"/>
                </a:solidFill>
              </a:rPr>
              <a:t>Send personalized DM through a real Android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644F6-C7D5-4D98-89BB-6E808EA1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00300"/>
            <a:ext cx="1123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4D"/>
          </a:solidFill>
          <a:ln xmlns:a="http://schemas.openxmlformats.org/drawingml/2006/main" w="0">
            <a:solidFill>
              <a:srgbClr val="F973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EE7E8-D8CD-4684-B01F-02A9D7A9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F41FA-570B-40FE-998D-6C8E1F6D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57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3B3A"/>
                </a:solidFill>
              </a:defRPr>
            </a:pPr>
            <a:r>
              <a:rPr sz="1350" b="1">
                <a:solidFill>
                  <a:srgbClr val="103B3A"/>
                </a:solidFill>
              </a:rPr>
              <a:t>Listen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A1C22-101D-4647-B5C3-105E0C9E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81350"/>
            <a:ext cx="1695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706E"/>
                </a:solidFill>
              </a:defRPr>
            </a:pPr>
            <a:r>
              <a:rPr sz="1050" b="0">
                <a:solidFill>
                  <a:srgbClr val="58706E"/>
                </a:solidFill>
              </a:rPr>
              <a:t>Poll customer replies and sync transcript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82B4D5-D22B-4800-B24A-F1B4C498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1123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B9C8"/>
          </a:solidFill>
          <a:ln xmlns:a="http://schemas.openxmlformats.org/drawingml/2006/main" w="0">
            <a:solidFill>
              <a:srgbClr val="13B9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6C7671-0F03-4857-B0A7-D3160C2E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4339C3-2446-434E-BA4D-7E21A3FE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3B3A"/>
                </a:solidFill>
              </a:defRPr>
            </a:pPr>
            <a:r>
              <a:rPr sz="1350" b="1">
                <a:solidFill>
                  <a:srgbClr val="103B3A"/>
                </a:solidFill>
              </a:rPr>
              <a:t>Continue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B22131-7071-4C46-9D55-E283FA5B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81350"/>
            <a:ext cx="1695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706E"/>
                </a:solidFill>
              </a:defRPr>
            </a:pPr>
            <a:r>
              <a:rPr sz="1050" b="0">
                <a:solidFill>
                  <a:srgbClr val="58706E"/>
                </a:solidFill>
              </a:rPr>
              <a:t>Recall context and generate next follow-up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FE5D60-0999-49E1-A336-64B66C99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00300"/>
            <a:ext cx="1123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B9C8"/>
          </a:solidFill>
          <a:ln xmlns:a="http://schemas.openxmlformats.org/drawingml/2006/main" w="0">
            <a:solidFill>
              <a:srgbClr val="13B9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2A7F39-8CD1-4108-9933-0A0FCF15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3B3A"/>
                </a:solidFill>
              </a:defRPr>
            </a:pPr>
            <a:r>
              <a:rPr sz="1800" b="1">
                <a:solidFill>
                  <a:srgbClr val="103B3A"/>
                </a:solidFill>
              </a:rPr>
              <a:t>Dashboard shows lead status, timeline, memory, outreach records, and verifiable artifacts.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6A0C5F-824C-4913-822B-AFF9E67D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A09D"/>
                </a:solidFill>
              </a:defRPr>
            </a:pPr>
            <a:r>
              <a:rPr sz="750" b="0">
                <a:solidFill>
                  <a:srgbClr val="8CA09D"/>
                </a:solidFill>
              </a:rPr>
              <a:t>Auto Lead Flow  /  5</a:t>
            </a:r>
          </a:p>
        </p:txBody>
      </p:sp>
    </p:spTree>
    <p:extLst>
      <p:ext uri="{BB962C8B-B14F-4D97-AF65-F5344CB8AC3E}">
        <p14:creationId xmlns:p14="http://schemas.microsoft.com/office/powerpoint/2010/main" val="136881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5E8293-ABFE-43EC-ABC9-3341E9D2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3A"/>
                </a:solidFill>
              </a:defRPr>
            </a:pPr>
            <a:r>
              <a:rPr sz="2700" b="1">
                <a:solidFill>
                  <a:srgbClr val="103B3A"/>
                </a:solidFill>
              </a:rPr>
              <a:t>Core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D7AF2-6EEE-4CAB-BA66-C87ECEA8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E"/>
                </a:solidFill>
              </a:defRPr>
            </a:pPr>
            <a:r>
              <a:rPr sz="1350" b="0">
                <a:solidFill>
                  <a:srgbClr val="58706E"/>
                </a:solidFill>
              </a:rPr>
              <a:t>Built around the real social acquisition workflow, not just a CRM screen.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1F6CF-7161-4C8B-8A1B-4185596C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47625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2EA96-DCCC-4FB9-A1C1-A7BE0932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9C8"/>
          </a:solidFill>
          <a:ln xmlns:a="http://schemas.openxmlformats.org/drawingml/2006/main" w="0">
            <a:solidFill>
              <a:srgbClr val="13B9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98B37-C314-43EB-901A-77F8E587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3B3A"/>
                </a:solidFill>
              </a:defRPr>
            </a:pPr>
            <a:r>
              <a:rPr sz="1650" b="1">
                <a:solidFill>
                  <a:srgbClr val="103B3A"/>
                </a:solidFill>
              </a:rPr>
              <a:t>Social Lead Discovery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8E090-A093-4AD4-93B4-6E4E6F8E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4267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6E"/>
                </a:solidFill>
              </a:defRPr>
            </a:pPr>
            <a:r>
              <a:rPr sz="1275" b="0">
                <a:solidFill>
                  <a:srgbClr val="58706E"/>
                </a:solidFill>
              </a:rPr>
              <a:t>Search posts and comments for buying intent, then turn unstructured social content into leads.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C8AE9-2F3E-416F-B494-5D412AFD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62100"/>
            <a:ext cx="47625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939DA-515D-4746-A5A5-196DC11A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621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4D"/>
          </a:solidFill>
          <a:ln xmlns:a="http://schemas.openxmlformats.org/drawingml/2006/main" w="0">
            <a:solidFill>
              <a:srgbClr val="F973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81A45-8695-4E2E-98F7-09B9A490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907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3B3A"/>
                </a:solidFill>
              </a:defRPr>
            </a:pPr>
            <a:r>
              <a:rPr sz="1650" b="1">
                <a:solidFill>
                  <a:srgbClr val="103B3A"/>
                </a:solidFill>
              </a:rPr>
              <a:t>Real-device Outreach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35038-B354-4A60-A4E5-B41F13DC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09800"/>
            <a:ext cx="4267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6E"/>
                </a:solidFill>
              </a:defRPr>
            </a:pPr>
            <a:r>
              <a:rPr sz="1275" b="0">
                <a:solidFill>
                  <a:srgbClr val="58706E"/>
                </a:solidFill>
              </a:rPr>
              <a:t>Send first-touch private messages through a real social app account on a real Android phone.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824AD-5BD6-4003-8809-43710BFA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47625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3DEED-23D9-4FB2-A6DF-75B3CBF1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CD417-7E40-4DC3-82A9-594A955B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3B3A"/>
                </a:solidFill>
              </a:defRPr>
            </a:pPr>
            <a:r>
              <a:rPr sz="1650" b="1">
                <a:solidFill>
                  <a:srgbClr val="103B3A"/>
                </a:solidFill>
              </a:rPr>
              <a:t>Configurable Industry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FA511-C5B6-41E9-80C1-59886C3A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4267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6E"/>
                </a:solidFill>
              </a:defRPr>
            </a:pPr>
            <a:r>
              <a:rPr sz="1275" b="0">
                <a:solidFill>
                  <a:srgbClr val="58706E"/>
                </a:solidFill>
              </a:rPr>
              <a:t>Use playbooks to configure role, tone, qualification fields, and follow-up strategy.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5631E2-C135-4E36-8CD9-7C182CB8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90950"/>
            <a:ext cx="47625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45C04A-6367-493F-9A6E-0B996F66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909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9C8"/>
          </a:solidFill>
          <a:ln xmlns:a="http://schemas.openxmlformats.org/drawingml/2006/main" w="0">
            <a:solidFill>
              <a:srgbClr val="13B9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09E5E9-950A-4774-8721-93729F9D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195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3B3A"/>
                </a:solidFill>
              </a:defRPr>
            </a:pPr>
            <a:r>
              <a:rPr sz="1650" b="1">
                <a:solidFill>
                  <a:srgbClr val="103B3A"/>
                </a:solidFill>
              </a:rPr>
              <a:t>Long-term Follow-up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1BCAE-C513-4ECE-97F6-9E367AC8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38650"/>
            <a:ext cx="4267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6E"/>
                </a:solidFill>
              </a:defRPr>
            </a:pPr>
            <a:r>
              <a:rPr sz="1275" b="0">
                <a:solidFill>
                  <a:srgbClr val="58706E"/>
                </a:solidFill>
              </a:rPr>
              <a:t>Recall customer context across sessions and workers, then continue multi-touch conversion.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4D3169-F105-4B6E-B76A-58C8792B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A09D"/>
                </a:solidFill>
              </a:defRPr>
            </a:pPr>
            <a:r>
              <a:rPr sz="750" b="0">
                <a:solidFill>
                  <a:srgbClr val="8CA09D"/>
                </a:solidFill>
              </a:rPr>
              <a:t>Auto Lead Flow  /  6</a:t>
            </a:r>
          </a:p>
        </p:txBody>
      </p:sp>
    </p:spTree>
    <p:extLst>
      <p:ext uri="{BB962C8B-B14F-4D97-AF65-F5344CB8AC3E}">
        <p14:creationId xmlns:p14="http://schemas.microsoft.com/office/powerpoint/2010/main" val="11039962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B97324-3499-4487-A201-1C42DEEF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3A"/>
                </a:solidFill>
              </a:defRPr>
            </a:pPr>
            <a:r>
              <a:rPr sz="2700" b="1">
                <a:solidFill>
                  <a:srgbClr val="103B3A"/>
                </a:solidFill>
              </a:rPr>
              <a:t>Why Walrus: Make Agent Actions Verifiable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85415-8915-4474-9A32-FA88150C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E"/>
                </a:solidFill>
              </a:defRPr>
            </a:pPr>
            <a:r>
              <a:rPr sz="1350" b="0">
                <a:solidFill>
                  <a:srgbClr val="58706E"/>
                </a:solidFill>
              </a:rPr>
              <a:t>Agent automation should not be a black box; every business action can leave a verifiable record.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09C4F-4D0A-45CD-A902-A1DE20AE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4000500" cy="209550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02D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Black-box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C6B0D-B5E5-4FD5-92C2-AB1EECFE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38350"/>
            <a:ext cx="4000500" cy="209550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B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3B3A"/>
                </a:solidFill>
              </a:defRPr>
            </a:pPr>
            <a:r>
              <a:rPr sz="2550" b="1">
                <a:solidFill>
                  <a:srgbClr val="103B3A"/>
                </a:solidFill>
              </a:rPr>
              <a:t>Verifiable</a:t>
            </a:r>
          </a:p>
          <a:p xmlns:a="http://schemas.openxmlformats.org/drawingml/2006/main">
            <a:pPr algn="ctr">
              <a:defRPr sz="2550" b="1">
                <a:solidFill>
                  <a:srgbClr val="103B3A"/>
                </a:solidFill>
              </a:defRPr>
            </a:pPr>
            <a:r>
              <a:rPr sz="2550" b="1">
                <a:solidFill>
                  <a:srgbClr val="103B3A"/>
                </a:solidFill>
              </a:rPr>
              <a:t>business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8B21C-F4A5-418E-BA50-F9561BE7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09900"/>
            <a:ext cx="2114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4D"/>
          </a:solidFill>
          <a:ln xmlns:a="http://schemas.openxmlformats.org/drawingml/2006/main" w="0">
            <a:solidFill>
              <a:srgbClr val="F973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4DCA4-358C-40B8-952A-73E7902F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530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Source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4B482-2803-49CD-B980-8C6AB055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530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9734D"/>
                </a:solidFill>
              </a:defRPr>
            </a:pPr>
            <a:r>
              <a:rPr sz="1050" b="1">
                <a:solidFill>
                  <a:srgbClr val="F9734D"/>
                </a:solidFill>
              </a:rPr>
              <a:t>Scoring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CD6B0-A1F0-49D1-9A84-AA936C06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530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Outreach 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2BD47-8FAF-48A9-B566-F8950578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530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Trace + handoff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997CE-6836-4323-BE5A-5053FA65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8706E"/>
                </a:solidFill>
              </a:defRPr>
            </a:pPr>
            <a:r>
              <a:rPr sz="1500" b="0">
                <a:solidFill>
                  <a:srgbClr val="58706E"/>
                </a:solidFill>
              </a:rPr>
              <a:t>Walrus stores immutable artifacts that explain what the agent saw, decided, sent, and handed off.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0779C-AA10-4F39-AA79-6785F7A3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A09D"/>
                </a:solidFill>
              </a:defRPr>
            </a:pPr>
            <a:r>
              <a:rPr sz="750" b="0">
                <a:solidFill>
                  <a:srgbClr val="8CA09D"/>
                </a:solidFill>
              </a:rPr>
              <a:t>Auto Lead Flow  /  7</a:t>
            </a:r>
          </a:p>
        </p:txBody>
      </p:sp>
    </p:spTree>
    <p:extLst>
      <p:ext uri="{BB962C8B-B14F-4D97-AF65-F5344CB8AC3E}">
        <p14:creationId xmlns:p14="http://schemas.microsoft.com/office/powerpoint/2010/main" val="11879549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F56859-E5EF-46E0-9FF2-D7B66B9E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3A"/>
                </a:solidFill>
              </a:defRPr>
            </a:pPr>
            <a:r>
              <a:rPr sz="2700" b="1">
                <a:solidFill>
                  <a:srgbClr val="103B3A"/>
                </a:solidFill>
              </a:rPr>
              <a:t>Beyond Real Estate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BDDBC-6AE2-44ED-BB83-8B2BDC01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E"/>
                </a:solidFill>
              </a:defRPr>
            </a:pPr>
            <a:r>
              <a:rPr sz="1350" b="0">
                <a:solidFill>
                  <a:srgbClr val="58706E"/>
                </a:solidFill>
              </a:rPr>
              <a:t>The demo starts with Xiaohongshu and real-estate sales, but the system is a configurable industry lead agent.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EEC75-01C4-4426-8103-7B7D153E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66900"/>
            <a:ext cx="3619500" cy="16002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Playbook-configured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Sales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64F6A-F66C-42B3-9088-0D04E609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9734D"/>
                </a:solidFill>
              </a:defRPr>
            </a:pPr>
            <a:r>
              <a:rPr sz="1050" b="1">
                <a:solidFill>
                  <a:srgbClr val="F9734D"/>
                </a:solidFill>
              </a:rPr>
              <a:t>Real Estate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09CC5-38DB-46EF-9FB5-978AE8F5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719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Automotive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75BF1-E953-4C13-9CBD-1B1321F2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719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Education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3B758-BA2A-4125-81AD-2AB9C76D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719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Insurance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91B09-60F6-4922-9635-6454A492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Home Renovation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3D1D5-EEAD-4775-A9A8-0456E8E4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719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B2B SaaS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C6B7D-E5E3-4E7A-BCCE-8A15356E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B9C8"/>
                </a:solidFill>
              </a:defRPr>
            </a:pPr>
            <a:r>
              <a:rPr sz="1350" b="1">
                <a:solidFill>
                  <a:srgbClr val="13B9C8"/>
                </a:solidFill>
              </a:rPr>
              <a:t>Scenario playbooks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82137-67B5-4013-B2EA-D81666A9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293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706E"/>
                </a:solidFill>
              </a:defRPr>
            </a:pPr>
            <a:r>
              <a:rPr sz="1350" b="0">
                <a:solidFill>
                  <a:srgbClr val="58706E"/>
                </a:solidFill>
              </a:rPr>
              <a:t>Any high-consideration sales workflow with social intent, repeated outreach, and long decision cycles can adapt the same engine.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24441-6C7E-4ADF-A0B8-03351667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A09D"/>
                </a:solidFill>
              </a:defRPr>
            </a:pPr>
            <a:r>
              <a:rPr sz="750" b="0">
                <a:solidFill>
                  <a:srgbClr val="8CA09D"/>
                </a:solidFill>
              </a:rPr>
              <a:t>Auto Lead Flow  /  8</a:t>
            </a:r>
          </a:p>
        </p:txBody>
      </p:sp>
    </p:spTree>
    <p:extLst>
      <p:ext uri="{BB962C8B-B14F-4D97-AF65-F5344CB8AC3E}">
        <p14:creationId xmlns:p14="http://schemas.microsoft.com/office/powerpoint/2010/main" val="9062790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3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223c9d346441c"/>
          <a:stretch xmlns:a="http://schemas.openxmlformats.org/drawingml/2006/main"/>
        </p:blipFill>
        <p:spPr>
          <a:xfrm xmlns:a="http://schemas.openxmlformats.org/drawingml/2006/main">
            <a:off x="742950" y="91440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CD5EB-F310-46AE-B150-1DE8977F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0490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Turn Social Intent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into Verifiable Outreach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F5B9A-973D-4A88-8BF8-44B06640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289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CEEF1"/>
                </a:solidFill>
              </a:defRPr>
            </a:pPr>
            <a:r>
              <a:rPr sz="1800" b="0">
                <a:solidFill>
                  <a:srgbClr val="BCEEF1"/>
                </a:solidFill>
              </a:rPr>
              <a:t>Discover, qualify, reach out, and follow up with high-intent social leads automatically.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CC882-1F09-45F6-86B2-9079DB9E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433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Social buying intent becomes verifiable, persistent customer outreach.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23389-C155-426A-8CF7-FBE16726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1015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Discover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A8AD2-DB4B-464A-96A4-45B988FF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Qualify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BE420-9958-466B-AEE7-B507C528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95875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B9C8"/>
          </a:solidFill>
          <a:ln xmlns:a="http://schemas.openxmlformats.org/drawingml/2006/main" w="0">
            <a:solidFill>
              <a:srgbClr val="13B9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7E22E-151B-437C-9CB7-41F14AC3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1015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9734D"/>
                </a:solidFill>
              </a:defRPr>
            </a:pPr>
            <a:r>
              <a:rPr sz="1050" b="1">
                <a:solidFill>
                  <a:srgbClr val="F9734D"/>
                </a:solidFill>
              </a:rPr>
              <a:t>Outreach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DCC3F-B8A1-45A3-99AA-02DC1CB3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95875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4D"/>
          </a:solidFill>
          <a:ln xmlns:a="http://schemas.openxmlformats.org/drawingml/2006/main" w="0">
            <a:solidFill>
              <a:srgbClr val="F973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04F6D-08CB-4730-B59B-CE0D3394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1015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Follow-up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6EE4B-065B-4503-92AC-5390FA01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95875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B9C8"/>
          </a:solidFill>
          <a:ln xmlns:a="http://schemas.openxmlformats.org/drawingml/2006/main" w="0">
            <a:solidFill>
              <a:srgbClr val="13B9C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7575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2026-06-19T05:39:32.8950000Z</dcterms:created>
  <dcterms:modified xsi:type="dcterms:W3CDTF">2026-06-19T05:39:32.8950000Z</dcterms:modified>
</coreProperties>
</file>