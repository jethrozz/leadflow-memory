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8dc2a851e5a4fa3" /><Relationship Type="http://schemas.openxmlformats.org/officeDocument/2006/relationships/extended-properties" Target="/docProps/app.xml" Id="R428dfc84f6624406" /><Relationship Type="http://schemas.openxmlformats.org/officeDocument/2006/relationships/officeDocument" Target="/ppt/presentation.xml" Id="R8ab9269c790e45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07e4f050ff4d0d"/>
  </p:sldMasterIdLst>
  <p:notesMasterIdLst>
    <p:notesMasterId xmlns:r="http://schemas.openxmlformats.org/officeDocument/2006/relationships" r:id="R30faec2011fb4095"/>
  </p:notesMasterIdLst>
  <p:sldIdLst>
    <p:sldId xmlns:r="http://schemas.openxmlformats.org/officeDocument/2006/relationships" id="256" r:id="Rf5628e6031314786"/>
    <p:sldId xmlns:r="http://schemas.openxmlformats.org/officeDocument/2006/relationships" id="257" r:id="R07a2e008ba104484"/>
    <p:sldId xmlns:r="http://schemas.openxmlformats.org/officeDocument/2006/relationships" id="258" r:id="Rd1a1ae2b389b4e2f"/>
    <p:sldId xmlns:r="http://schemas.openxmlformats.org/officeDocument/2006/relationships" id="259" r:id="Rc4913b990e4d4b63"/>
    <p:sldId xmlns:r="http://schemas.openxmlformats.org/officeDocument/2006/relationships" id="260" r:id="Raeb247bd8c33447e"/>
    <p:sldId xmlns:r="http://schemas.openxmlformats.org/officeDocument/2006/relationships" id="261" r:id="R65da5055c0324d48"/>
    <p:sldId xmlns:r="http://schemas.openxmlformats.org/officeDocument/2006/relationships" id="262" r:id="R5de277e872ef40a3"/>
    <p:sldId xmlns:r="http://schemas.openxmlformats.org/officeDocument/2006/relationships" id="263" r:id="Rd8199ebb4dd34b9f"/>
    <p:sldId xmlns:r="http://schemas.openxmlformats.org/officeDocument/2006/relationships" id="264" r:id="R0164c803342d40c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1e92ad0e1e4281" /><Relationship Type="http://schemas.openxmlformats.org/officeDocument/2006/relationships/slideMaster" Target="/ppt/slideMasters/slideMaster1.xml" Id="Ref07e4f050ff4d0d" /><Relationship Type="http://schemas.openxmlformats.org/officeDocument/2006/relationships/notesMaster" Target="/ppt/notesMasters/notesMaster1.xml" Id="R30faec2011fb4095" /><Relationship Type="http://schemas.openxmlformats.org/officeDocument/2006/relationships/presProps" Target="/ppt/presProps.xml" Id="Rc54fe2e0907e42ef" /><Relationship Type="http://schemas.openxmlformats.org/officeDocument/2006/relationships/tableStyles" Target="/ppt/tableStyles.xml" Id="R0db3bdedee524b78" /><Relationship Type="http://schemas.openxmlformats.org/officeDocument/2006/relationships/slide" Target="/ppt/slides/slide1.xml" Id="Rf5628e6031314786" /><Relationship Type="http://schemas.openxmlformats.org/officeDocument/2006/relationships/slide" Target="/ppt/slides/slide2.xml" Id="R07a2e008ba104484" /><Relationship Type="http://schemas.openxmlformats.org/officeDocument/2006/relationships/slide" Target="/ppt/slides/slide3.xml" Id="Rd1a1ae2b389b4e2f" /><Relationship Type="http://schemas.openxmlformats.org/officeDocument/2006/relationships/slide" Target="/ppt/slides/slide4.xml" Id="Rc4913b990e4d4b63" /><Relationship Type="http://schemas.openxmlformats.org/officeDocument/2006/relationships/slide" Target="/ppt/slides/slide5.xml" Id="Raeb247bd8c33447e" /><Relationship Type="http://schemas.openxmlformats.org/officeDocument/2006/relationships/slide" Target="/ppt/slides/slide6.xml" Id="R65da5055c0324d48" /><Relationship Type="http://schemas.openxmlformats.org/officeDocument/2006/relationships/slide" Target="/ppt/slides/slide7.xml" Id="R5de277e872ef40a3" /><Relationship Type="http://schemas.openxmlformats.org/officeDocument/2006/relationships/slide" Target="/ppt/slides/slide8.xml" Id="Rd8199ebb4dd34b9f" /><Relationship Type="http://schemas.openxmlformats.org/officeDocument/2006/relationships/slide" Target="/ppt/slides/slide9.xml" Id="R0164c803342d40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1ea920611a46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a8ed0e701e4b15" /><Relationship Type="http://schemas.openxmlformats.org/officeDocument/2006/relationships/notesMaster" Target="/ppt/notesMasters/notesMaster1.xml" Id="Rf9be6dd787b241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905c36735f4258" /><Relationship Type="http://schemas.openxmlformats.org/officeDocument/2006/relationships/notesMaster" Target="/ppt/notesMasters/notesMaster1.xml" Id="Rb29dd574525743a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1c11f1f5114d97" /><Relationship Type="http://schemas.openxmlformats.org/officeDocument/2006/relationships/notesMaster" Target="/ppt/notesMasters/notesMaster1.xml" Id="Rce1987087aec4f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fd576b746d4b1b" /><Relationship Type="http://schemas.openxmlformats.org/officeDocument/2006/relationships/notesMaster" Target="/ppt/notesMasters/notesMaster1.xml" Id="Rba8ff6be1cb64d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ac20bd33754786" /><Relationship Type="http://schemas.openxmlformats.org/officeDocument/2006/relationships/notesMaster" Target="/ppt/notesMasters/notesMaster1.xml" Id="R38f080c8801141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cf9d53fdfbd4994" /><Relationship Type="http://schemas.openxmlformats.org/officeDocument/2006/relationships/notesMaster" Target="/ppt/notesMasters/notesMaster1.xml" Id="Rcd70cd0c2239418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fcb64f355745ac" /><Relationship Type="http://schemas.openxmlformats.org/officeDocument/2006/relationships/notesMaster" Target="/ppt/notesMasters/notesMaster1.xml" Id="Ra55e22247d4b439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e575a9003d4b2c" /><Relationship Type="http://schemas.openxmlformats.org/officeDocument/2006/relationships/notesMaster" Target="/ppt/notesMasters/notesMaster1.xml" Id="R73f04f794f364c9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711081b12a4c38" /><Relationship Type="http://schemas.openxmlformats.org/officeDocument/2006/relationships/notesMaster" Target="/ppt/notesMasters/notesMaster1.xml" Id="R112fa089722b42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simple story: social intent already exists online, but sales teams still find and message people manually. Auto Lead Flow automates discovery, qualification, real-phone outreach, and follow-up.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anchor the pain. The customer problem is not just CRM storage: the manual work starts on social platforms before the lead exists in a 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demo scenario starts from a concrete social signal. The system turns unstructured text into a structured lead profile.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product definition slide. Emphasize that real outreach is part of the workflow, not just a dashboard simulation.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maps directly to the live demo order. Keep it moving: discover, extract, score, send, poll, continue.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core capability list should make judges remember the differentiators: discovery, phone outreach, configurable playbooks, memory-driven follow-up.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Walrus as business trust: source proof, decision proof, trace proof, and handoff proof.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point is extensibility: configure fields and strategy through playbooks rather than hardcoding real estate forever.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repeating the one-line message. Auto Lead Flow converts social intent into real, verifiable outreach.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e191740ea348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5cdbcf442f430d" /><Relationship Type="http://schemas.openxmlformats.org/officeDocument/2006/relationships/slideLayout" Target="/ppt/slideLayouts/slideLayout1.xml" Id="Rb6dd46e1361542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dd46e1361542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c606b245a473a" /><Relationship Type="http://schemas.openxmlformats.org/officeDocument/2006/relationships/image" Target="/ppt/media/image.png" Id="R0ec5bf673280436c" /><Relationship Type="http://schemas.openxmlformats.org/officeDocument/2006/relationships/notesSlide" Target="/ppt/notesSlides/notesSlide1.xml" Id="Rcde26a8432a64f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41f87ac6a4180" /><Relationship Type="http://schemas.openxmlformats.org/officeDocument/2006/relationships/notesSlide" Target="/ppt/notesSlides/notesSlide2.xml" Id="Rfd626ae61c2e4a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cb6544cd154107" /><Relationship Type="http://schemas.openxmlformats.org/officeDocument/2006/relationships/notesSlide" Target="/ppt/notesSlides/notesSlide3.xml" Id="Rfae6edb172fd4e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73a7186d5a4278" /><Relationship Type="http://schemas.openxmlformats.org/officeDocument/2006/relationships/notesSlide" Target="/ppt/notesSlides/notesSlide4.xml" Id="Rdf633e7d355542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da9b066ff4392" /><Relationship Type="http://schemas.openxmlformats.org/officeDocument/2006/relationships/notesSlide" Target="/ppt/notesSlides/notesSlide5.xml" Id="R0ec507fdb7c145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a7cb75e464d1d" /><Relationship Type="http://schemas.openxmlformats.org/officeDocument/2006/relationships/notesSlide" Target="/ppt/notesSlides/notesSlide6.xml" Id="Rde3711198b8f4d7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7d9df63bbd4d0e" /><Relationship Type="http://schemas.openxmlformats.org/officeDocument/2006/relationships/notesSlide" Target="/ppt/notesSlides/notesSlide7.xml" Id="R96695cdb5b124a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f78a502fe4a74" /><Relationship Type="http://schemas.openxmlformats.org/officeDocument/2006/relationships/notesSlide" Target="/ppt/notesSlides/notesSlide8.xml" Id="Rd62718e92bbc4e5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7d5f896c624b56" /><Relationship Type="http://schemas.openxmlformats.org/officeDocument/2006/relationships/image" Target="/ppt/media/image2.png" Id="R2dcf973d518545f1" /><Relationship Type="http://schemas.openxmlformats.org/officeDocument/2006/relationships/notesSlide" Target="/ppt/notesSlides/notesSlide9.xml" Id="Rccdb0ca83e3f481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c5bf673280436c"/>
          <a:stretch xmlns:a="http://schemas.openxmlformats.org/drawingml/2006/main"/>
        </p:blipFill>
        <p:spPr>
          <a:xfrm xmlns:a="http://schemas.openxmlformats.org/drawingml/2006/main">
            <a:off x="7334250" y="838200"/>
            <a:ext cx="3429000" cy="3429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40521D-D428-4C16-89AC-006B0D49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38250"/>
            <a:ext cx="628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03B3A"/>
                </a:solidFill>
              </a:defRPr>
            </a:pPr>
            <a:r>
              <a:rPr sz="4800" b="1">
                <a:solidFill>
                  <a:srgbClr val="103B3A"/>
                </a:solidFill>
              </a:rPr>
              <a:t>Auto Lead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7DA5A3-A843-46E5-802B-869C48AF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6191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F766E"/>
                </a:solidFill>
              </a:defRPr>
            </a:pPr>
            <a:r>
              <a:rPr sz="2100" b="0">
                <a:solidFill>
                  <a:srgbClr val="0F766E"/>
                </a:solidFill>
              </a:rPr>
              <a:t>Verifiable Social Lead Automation</a:t>
            </a:r>
          </a:p>
          <a:p xmlns:a="http://schemas.openxmlformats.org/drawingml/2006/main">
            <a:pPr algn="l">
              <a:defRPr sz="2100" b="0">
                <a:solidFill>
                  <a:srgbClr val="0F766E"/>
                </a:solidFill>
              </a:defRPr>
            </a:pPr>
            <a:r>
              <a:rPr sz="2100" b="0">
                <a:solidFill>
                  <a:srgbClr val="0F766E"/>
                </a:solidFill>
              </a:rPr>
              <a:t>for Configurable Sales Agents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D4064-85DD-4D15-84EF-85F7B116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706E"/>
                </a:solidFill>
              </a:defRPr>
            </a:pPr>
            <a:r>
              <a:rPr sz="1500" b="0">
                <a:solidFill>
                  <a:srgbClr val="58706E"/>
                </a:solidFill>
              </a:rPr>
              <a:t>社交平台线索自动发现、真实触达与持续跟进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61E64-3D5E-49E5-B574-60A811A7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7200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Discover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AFCBBD-E832-46F8-837B-24FD1E1B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57200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Qualify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B3272-1312-4800-B40B-912EBA35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57725"/>
            <a:ext cx="266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815E77-D135-4C08-9F3E-5BCE5B6A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57200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9734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9734D"/>
                </a:solidFill>
              </a:defRPr>
            </a:pPr>
            <a:r>
              <a:rPr sz="1050" b="1">
                <a:solidFill>
                  <a:srgbClr val="F9734D"/>
                </a:solidFill>
              </a:rPr>
              <a:t>Outreach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47AA6E-D7FD-49DE-85BC-5D1CD1A8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57725"/>
            <a:ext cx="266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9734D"/>
          </a:solidFill>
          <a:ln xmlns:a="http://schemas.openxmlformats.org/drawingml/2006/main" w="0">
            <a:solidFill>
              <a:srgbClr val="F973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A68F12-9BCD-43AB-B48C-B7A0897D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57200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Follow-up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206B6-5A10-498F-94B6-2A8DE031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57725"/>
            <a:ext cx="266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599361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AF1384-22B4-45B7-B60E-1BFF2BD9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9048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3B3A"/>
                </a:solidFill>
              </a:defRPr>
            </a:pPr>
            <a:r>
              <a:rPr sz="2700" b="1">
                <a:solidFill>
                  <a:srgbClr val="103B3A"/>
                </a:solidFill>
              </a:rPr>
              <a:t>Social Lead Generation Is Still Too Manual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6E12D4-9211-456C-B4FE-5F59BF1F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E"/>
                </a:solidFill>
              </a:defRPr>
            </a:pPr>
            <a:r>
              <a:rPr sz="1350" b="0">
                <a:solidFill>
                  <a:srgbClr val="58706E"/>
                </a:solidFill>
              </a:rPr>
              <a:t>社交平台获客仍然高度依赖人工搜索、判断和重复触达。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54A71F-CBD6-4CC5-BDF6-4F0976F6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238500" cy="2781300"/>
          </a:xfrm>
          <a:prstGeom xmlns:a="http://schemas.openxmlformats.org/drawingml/2006/main" prst="roundRect">
            <a:avLst>
              <a:gd name="adj" fmla="val 75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0D45B-5A0C-459D-A873-4F704421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6667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0E5310-F9F7-46DA-ACD2-FEFF223E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3B3A"/>
                </a:solidFill>
              </a:defRPr>
            </a:pPr>
            <a:r>
              <a:rPr sz="1650" b="1">
                <a:solidFill>
                  <a:srgbClr val="103B3A"/>
                </a:solidFill>
              </a:rPr>
              <a:t>Manual discovery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19470A-7172-4CA7-85FC-A52E4420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38400"/>
            <a:ext cx="27432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8706E"/>
                </a:solidFill>
              </a:defRPr>
            </a:pPr>
            <a:r>
              <a:rPr sz="1275" b="0">
                <a:solidFill>
                  <a:srgbClr val="58706E"/>
                </a:solidFill>
              </a:rPr>
              <a:t>Sales teams scroll posts and comments to find people who may be ready to buy.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9D2D11-D0C7-4D08-9367-8887245E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90700"/>
            <a:ext cx="3238500" cy="2781300"/>
          </a:xfrm>
          <a:prstGeom xmlns:a="http://schemas.openxmlformats.org/drawingml/2006/main" prst="roundRect">
            <a:avLst>
              <a:gd name="adj" fmla="val 75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3F4BB3-4A63-49C0-B165-931E959F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90700"/>
            <a:ext cx="6667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2141DB-1833-462C-A994-1F4CF5E1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193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3B3A"/>
                </a:solidFill>
              </a:defRPr>
            </a:pPr>
            <a:r>
              <a:rPr sz="1650" b="1">
                <a:solidFill>
                  <a:srgbClr val="103B3A"/>
                </a:solidFill>
              </a:rPr>
              <a:t>Scattered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DC0756-4F01-40C5-8B45-EFDB83CA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38400"/>
            <a:ext cx="27432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8706E"/>
                </a:solidFill>
              </a:defRPr>
            </a:pPr>
            <a:r>
              <a:rPr sz="1275" b="0">
                <a:solidFill>
                  <a:srgbClr val="58706E"/>
                </a:solidFill>
              </a:rPr>
              <a:t>Budget, location, urgency, concerns, and past replies are split across conversations.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88E035-7384-4A78-923B-AE23D43A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790700"/>
            <a:ext cx="3238500" cy="2781300"/>
          </a:xfrm>
          <a:prstGeom xmlns:a="http://schemas.openxmlformats.org/drawingml/2006/main" prst="roundRect">
            <a:avLst>
              <a:gd name="adj" fmla="val 75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8E926B-833E-417F-B438-3196350B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790700"/>
            <a:ext cx="6667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4D"/>
          </a:solidFill>
          <a:ln xmlns:a="http://schemas.openxmlformats.org/drawingml/2006/main" w="0">
            <a:solidFill>
              <a:srgbClr val="F973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48F9FA-27BD-46C4-8680-30D1DF0B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193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3B3A"/>
                </a:solidFill>
              </a:defRPr>
            </a:pPr>
            <a:r>
              <a:rPr sz="1650" b="1">
                <a:solidFill>
                  <a:srgbClr val="103B3A"/>
                </a:solidFill>
              </a:rPr>
              <a:t>Hard to audit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4BBA41-DD8E-4581-9DA6-5B3DC781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38400"/>
            <a:ext cx="27432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8706E"/>
                </a:solidFill>
              </a:defRPr>
            </a:pPr>
            <a:r>
              <a:rPr sz="1275" b="0">
                <a:solidFill>
                  <a:srgbClr val="58706E"/>
                </a:solidFill>
              </a:rPr>
              <a:t>It is difficult to prove why a lead was scored or why a message was sent.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6D93BE-CE35-4705-BE96-71EE620C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578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3B3A"/>
                </a:solidFill>
              </a:defRPr>
            </a:pPr>
            <a:r>
              <a:rPr sz="2100" b="1">
                <a:solidFill>
                  <a:srgbClr val="103B3A"/>
                </a:solidFill>
              </a:rPr>
              <a:t>High-frequency work, low automation, fragile memory.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1B3131-1173-42B3-B3FD-8E4FA11C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CA09D"/>
                </a:solidFill>
              </a:defRPr>
            </a:pPr>
            <a:r>
              <a:rPr sz="750" b="0">
                <a:solidFill>
                  <a:srgbClr val="8CA09D"/>
                </a:solidFill>
              </a:rPr>
              <a:t>Auto Lead Flow  /  2</a:t>
            </a:r>
          </a:p>
        </p:txBody>
      </p:sp>
    </p:spTree>
    <p:extLst>
      <p:ext uri="{BB962C8B-B14F-4D97-AF65-F5344CB8AC3E}">
        <p14:creationId xmlns:p14="http://schemas.microsoft.com/office/powerpoint/2010/main" val="8026711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4C0397-9F73-493B-B56C-C9C3A893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9048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3B3A"/>
                </a:solidFill>
              </a:defRPr>
            </a:pPr>
            <a:r>
              <a:rPr sz="2700" b="1">
                <a:solidFill>
                  <a:srgbClr val="103B3A"/>
                </a:solidFill>
              </a:rPr>
              <a:t>High-intent Leads Already Express Needs Online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4FE98-5DD4-4DA7-A8D2-1FAD5454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E"/>
                </a:solidFill>
              </a:defRPr>
            </a:pPr>
            <a:r>
              <a:rPr sz="1350" b="0">
                <a:solidFill>
                  <a:srgbClr val="58706E"/>
                </a:solidFill>
              </a:rPr>
              <a:t>机会：很多潜在线索已经在社交内容里表达了明确需求。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76D700-E025-43A8-A5F5-7A7B3311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5219700" cy="312420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90A8CB-CD99-4590-A206-DB8770A6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4310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9734D"/>
                </a:solidFill>
              </a:defRPr>
            </a:pPr>
            <a:r>
              <a:rPr sz="1050" b="1">
                <a:solidFill>
                  <a:srgbClr val="F9734D"/>
                </a:solidFill>
              </a:rPr>
              <a:t>Xiaohongshu post / comment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CFAAC1-4D0F-4C0E-BEBD-F91A4A5E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57450"/>
            <a:ext cx="4343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3B3A"/>
                </a:solidFill>
              </a:defRPr>
            </a:pPr>
            <a:r>
              <a:rPr sz="2250" b="1">
                <a:solidFill>
                  <a:srgbClr val="103B3A"/>
                </a:solidFill>
              </a:rPr>
              <a:t>“想在高新区附近买个三房，预算别太高，最好通勤方便。”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A4D123-FBA8-4DA8-9D6A-19417579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862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E"/>
                </a:solidFill>
              </a:defRPr>
            </a:pPr>
            <a:r>
              <a:rPr sz="1350" b="0">
                <a:solidFill>
                  <a:srgbClr val="58706E"/>
                </a:solidFill>
              </a:rPr>
              <a:t>This is not a cold lead. It is a visible buying signal.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BF7363-6B65-4558-867B-43A30589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00200"/>
            <a:ext cx="3905250" cy="495300"/>
          </a:xfrm>
          <a:prstGeom xmlns:a="http://schemas.openxmlformats.org/drawingml/2006/main" prst="roundRect">
            <a:avLst>
              <a:gd name="adj" fmla="val 3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BB2C8C-1E64-4CC0-86F1-F5FF2FF8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145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Budget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1211B-CE9F-4A13-9D8F-985CFB90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2402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3B3A"/>
                </a:solidFill>
              </a:defRPr>
            </a:pPr>
            <a:r>
              <a:rPr sz="1275" b="0">
                <a:solidFill>
                  <a:srgbClr val="103B3A"/>
                </a:solidFill>
              </a:rPr>
              <a:t>price-sensitive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26492D-5877-40DD-80D1-FC6B5E98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3905250" cy="495300"/>
          </a:xfrm>
          <a:prstGeom xmlns:a="http://schemas.openxmlformats.org/drawingml/2006/main" prst="roundRect">
            <a:avLst>
              <a:gd name="adj" fmla="val 3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AB39E-3486-4235-A399-B8CF9525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003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Location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35517F-B40C-401C-A9B0-C53F0C16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982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3B3A"/>
                </a:solidFill>
              </a:defRPr>
            </a:pPr>
            <a:r>
              <a:rPr sz="1275" b="0">
                <a:solidFill>
                  <a:srgbClr val="103B3A"/>
                </a:solidFill>
              </a:rPr>
              <a:t>high-tech district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1F0215-E905-4DE4-89AF-68E591D8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71800"/>
            <a:ext cx="3905250" cy="495300"/>
          </a:xfrm>
          <a:prstGeom xmlns:a="http://schemas.openxmlformats.org/drawingml/2006/main" prst="roundRect">
            <a:avLst>
              <a:gd name="adj" fmla="val 3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5BFFBD-22C9-4524-AC32-00DBD48B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861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Layout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3D936E-1832-438A-8EC0-21F344B2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9562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3B3A"/>
                </a:solidFill>
              </a:defRPr>
            </a:pPr>
            <a:r>
              <a:rPr sz="1275" b="0">
                <a:solidFill>
                  <a:srgbClr val="103B3A"/>
                </a:solidFill>
              </a:rPr>
              <a:t>three-bedroom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16AB79-5BF4-4534-9482-48FE6343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57600"/>
            <a:ext cx="3905250" cy="495300"/>
          </a:xfrm>
          <a:prstGeom xmlns:a="http://schemas.openxmlformats.org/drawingml/2006/main" prst="roundRect">
            <a:avLst>
              <a:gd name="adj" fmla="val 3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D44598-679A-450B-9D6C-CD0338B0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71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Concern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A07B65-7A6C-4A24-B258-C79A8677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8142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3B3A"/>
                </a:solidFill>
              </a:defRPr>
            </a:pPr>
            <a:r>
              <a:rPr sz="1275" b="0">
                <a:solidFill>
                  <a:srgbClr val="103B3A"/>
                </a:solidFill>
              </a:rPr>
              <a:t>commute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832555-B672-4BFC-9692-9B2AEA8D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43400"/>
            <a:ext cx="3905250" cy="495300"/>
          </a:xfrm>
          <a:prstGeom xmlns:a="http://schemas.openxmlformats.org/drawingml/2006/main" prst="roundRect">
            <a:avLst>
              <a:gd name="adj" fmla="val 34615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973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DEACB9-2E44-4915-94DD-4F75DBB6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577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9734D"/>
                </a:solidFill>
              </a:defRPr>
            </a:pPr>
            <a:r>
              <a:rPr sz="1350" b="1">
                <a:solidFill>
                  <a:srgbClr val="F9734D"/>
                </a:solidFill>
              </a:rPr>
              <a:t>Intent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8C5346-1E5E-4B41-8330-89E22DDE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6722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3B3A"/>
                </a:solidFill>
              </a:defRPr>
            </a:pPr>
            <a:r>
              <a:rPr sz="1275" b="0">
                <a:solidFill>
                  <a:srgbClr val="103B3A"/>
                </a:solidFill>
              </a:rPr>
              <a:t>active buyer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D065CD-0F62-4B48-971F-FF2C55F6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CA09D"/>
                </a:solidFill>
              </a:defRPr>
            </a:pPr>
            <a:r>
              <a:rPr sz="750" b="0">
                <a:solidFill>
                  <a:srgbClr val="8CA09D"/>
                </a:solidFill>
              </a:rPr>
              <a:t>Auto Lead Flow  /  3</a:t>
            </a:r>
          </a:p>
        </p:txBody>
      </p:sp>
    </p:spTree>
    <p:extLst>
      <p:ext uri="{BB962C8B-B14F-4D97-AF65-F5344CB8AC3E}">
        <p14:creationId xmlns:p14="http://schemas.microsoft.com/office/powerpoint/2010/main" val="20042637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2ED005-CE8B-4E35-80EE-7F1E3325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9048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3B3A"/>
                </a:solidFill>
              </a:defRPr>
            </a:pPr>
            <a:r>
              <a:rPr sz="2700" b="1">
                <a:solidFill>
                  <a:srgbClr val="103B3A"/>
                </a:solidFill>
              </a:rPr>
              <a:t>Auto Lead Flow: From Social Intent to Outreach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1E8BA2-CC78-4A00-B0C1-BE75EAFD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E"/>
                </a:solidFill>
              </a:defRPr>
            </a:pPr>
            <a:r>
              <a:rPr sz="1350" b="0">
                <a:solidFill>
                  <a:srgbClr val="58706E"/>
                </a:solidFill>
              </a:rPr>
              <a:t>可配置销售 Agent 工作流：发现线索、识别画像、真实触达、持续跟进。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0FF0A1-6083-403D-BF09-80FF2C4B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1257300" cy="10668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Social</a:t>
            </a:r>
          </a:p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Listening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066E49-A23F-4B8A-89DE-D728A392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266950"/>
            <a:ext cx="1257300" cy="10668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Qualify</a:t>
            </a:r>
          </a:p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Lead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87B02-CFBE-434C-8A2C-6FFC10C9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24150"/>
            <a:ext cx="266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6B1BB6-585D-4D79-A002-0FCE0920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66950"/>
            <a:ext cx="1257300" cy="10668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Memory</a:t>
            </a:r>
          </a:p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Recall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5BE9F3-2074-4BDA-9754-88B142AF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724150"/>
            <a:ext cx="266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36C4EB-CEC7-4CD8-9F8D-E7C0571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66950"/>
            <a:ext cx="1257300" cy="10668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9734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9734D"/>
                </a:solidFill>
              </a:defRPr>
            </a:pPr>
            <a:r>
              <a:rPr sz="1200" b="1">
                <a:solidFill>
                  <a:srgbClr val="F9734D"/>
                </a:solidFill>
              </a:rPr>
              <a:t>Real-device</a:t>
            </a:r>
          </a:p>
          <a:p xmlns:a="http://schemas.openxmlformats.org/drawingml/2006/main">
            <a:pPr algn="ctr">
              <a:defRPr sz="1200" b="1">
                <a:solidFill>
                  <a:srgbClr val="F9734D"/>
                </a:solidFill>
              </a:defRPr>
            </a:pPr>
            <a:r>
              <a:rPr sz="1200" b="1">
                <a:solidFill>
                  <a:srgbClr val="F9734D"/>
                </a:solidFill>
              </a:rPr>
              <a:t>Outreach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7DC228-ABD8-485C-8848-29BC27CA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724150"/>
            <a:ext cx="266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9734D"/>
          </a:solidFill>
          <a:ln xmlns:a="http://schemas.openxmlformats.org/drawingml/2006/main" w="0">
            <a:solidFill>
              <a:srgbClr val="F973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0A0076-1706-452C-AC60-32685BF0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1257300" cy="10668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Reply</a:t>
            </a:r>
          </a:p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Polling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132D75-B3B2-4340-99E6-11D7F1EA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724150"/>
            <a:ext cx="266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97389A-38C3-4306-A32C-92CCB538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266950"/>
            <a:ext cx="1257300" cy="10668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Follow-up</a:t>
            </a:r>
          </a:p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Loop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300D5A-1C0A-4709-B718-8F696391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24150"/>
            <a:ext cx="266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50866D-E9D4-49E5-A45F-AF31A6A5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305300"/>
            <a:ext cx="9105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3B3A"/>
                </a:solidFill>
              </a:defRPr>
            </a:pPr>
            <a:r>
              <a:rPr sz="1800" b="1">
                <a:solidFill>
                  <a:srgbClr val="103B3A"/>
                </a:solidFill>
              </a:rPr>
              <a:t>The agent role, industry scenario, tone, qualification fields, and follow-up strategy are configurable through playbooks.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3C417-0F63-4642-91B0-FE4348C8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0673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8706E"/>
                </a:solidFill>
              </a:defRPr>
            </a:pPr>
            <a:r>
              <a:rPr sz="1350" b="0">
                <a:solidFill>
                  <a:srgbClr val="58706E"/>
                </a:solidFill>
              </a:rPr>
              <a:t>Agent 角色、行业场景、沟通语气、线索字段和跟进策略都可以配置。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234E62-2325-4823-BC55-4C3229A1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CA09D"/>
                </a:solidFill>
              </a:defRPr>
            </a:pPr>
            <a:r>
              <a:rPr sz="750" b="0">
                <a:solidFill>
                  <a:srgbClr val="8CA09D"/>
                </a:solidFill>
              </a:rPr>
              <a:t>Auto Lead Flow  /  4</a:t>
            </a:r>
          </a:p>
        </p:txBody>
      </p:sp>
    </p:spTree>
    <p:extLst>
      <p:ext uri="{BB962C8B-B14F-4D97-AF65-F5344CB8AC3E}">
        <p14:creationId xmlns:p14="http://schemas.microsoft.com/office/powerpoint/2010/main" val="13105149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FC504E-F677-4238-AE40-0AB79612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9048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3B3A"/>
                </a:solidFill>
              </a:defRPr>
            </a:pPr>
            <a:r>
              <a:rPr sz="2700" b="1">
                <a:solidFill>
                  <a:srgbClr val="103B3A"/>
                </a:solidFill>
              </a:rPr>
              <a:t>Demo: From Xiaohongshu Signal to Real Outreach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6C003A-F8D3-4D48-BA39-0D3DA96B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E"/>
                </a:solidFill>
              </a:defRPr>
            </a:pPr>
            <a:r>
              <a:rPr sz="1350" b="0">
                <a:solidFill>
                  <a:srgbClr val="58706E"/>
                </a:solidFill>
              </a:rPr>
              <a:t>演示会展示从社交意图到真实私信触达，再到持续跟进的完整闭环。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A7CD84-2AB7-45D5-B047-2CEAD25C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F069F-51F5-46A6-9CEC-A8C2F4EB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Discover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73E9F-AF72-46C6-B86B-C27D7374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16954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8706E"/>
                </a:solidFill>
              </a:defRPr>
            </a:pPr>
            <a:r>
              <a:rPr sz="1050" b="0">
                <a:solidFill>
                  <a:srgbClr val="58706E"/>
                </a:solidFill>
              </a:rPr>
              <a:t>Find buyer intent in posts/comments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9332FD-1C08-4CDD-BFAF-3A9314A4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2669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4BA4A9-4BEB-4B7F-B7AC-59804CF0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57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Extract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8133A-13FE-4682-9301-C1975DB9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181350"/>
            <a:ext cx="16954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8706E"/>
                </a:solidFill>
              </a:defRPr>
            </a:pPr>
            <a:r>
              <a:rPr sz="1050" b="0">
                <a:solidFill>
                  <a:srgbClr val="58706E"/>
                </a:solidFill>
              </a:rPr>
              <a:t>Budget, location, layout, concerns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78EBE-BE8E-4B37-8D6D-645B245F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400300"/>
            <a:ext cx="11239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C03AAE-FF80-4904-A4F5-AF534001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669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B6F9DA-D826-4A0B-8B48-9B8C4DAA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57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Score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128985-D5AC-461A-98FA-6C27A924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81350"/>
            <a:ext cx="16954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8706E"/>
                </a:solidFill>
              </a:defRPr>
            </a:pPr>
            <a:r>
              <a:rPr sz="1050" b="0">
                <a:solidFill>
                  <a:srgbClr val="58706E"/>
                </a:solidFill>
              </a:rPr>
              <a:t>Decide whether the lead is worth outreach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ABA411-5B05-4D05-AE49-5B7EC46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400300"/>
            <a:ext cx="11239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FAB5FF-BB93-4A32-8034-369506C3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669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4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4C8425-134D-479A-9167-ABEBBECD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57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Reach out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6534F0-E82D-4F79-BA67-5A795C5D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81350"/>
            <a:ext cx="16954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8706E"/>
                </a:solidFill>
              </a:defRPr>
            </a:pPr>
            <a:r>
              <a:rPr sz="1050" b="0">
                <a:solidFill>
                  <a:srgbClr val="58706E"/>
                </a:solidFill>
              </a:rPr>
              <a:t>Send personalized DM through a real Android 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C0FCE3-B5A7-47C5-B341-2B665A54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00300"/>
            <a:ext cx="11239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9734D"/>
          </a:solidFill>
          <a:ln xmlns:a="http://schemas.openxmlformats.org/drawingml/2006/main" w="0">
            <a:solidFill>
              <a:srgbClr val="F9734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9444F3-056C-46BB-A0A2-F93D260D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11E881-8D77-478A-8CF5-CE658062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57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Listen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3C45BF-D537-4BC1-9471-7F015892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81350"/>
            <a:ext cx="16954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8706E"/>
                </a:solidFill>
              </a:defRPr>
            </a:pPr>
            <a:r>
              <a:rPr sz="1050" b="0">
                <a:solidFill>
                  <a:srgbClr val="58706E"/>
                </a:solidFill>
              </a:rPr>
              <a:t>Poll customer replies and sync transcript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99BC65-98F9-4B91-A544-90E10DBA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00300"/>
            <a:ext cx="11239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EE9286-2DDA-44F3-A30C-53F1E02D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2669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F1BD84-CA3D-4816-963B-A6A24C84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8575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3B3A"/>
                </a:solidFill>
              </a:defRPr>
            </a:pPr>
            <a:r>
              <a:rPr sz="1350" b="1">
                <a:solidFill>
                  <a:srgbClr val="103B3A"/>
                </a:solidFill>
              </a:rPr>
              <a:t>Continue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A7C34A-9903-4E72-BA29-1B8EFB98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81350"/>
            <a:ext cx="16954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8706E"/>
                </a:solidFill>
              </a:defRPr>
            </a:pPr>
            <a:r>
              <a:rPr sz="1050" b="0">
                <a:solidFill>
                  <a:srgbClr val="58706E"/>
                </a:solidFill>
              </a:rPr>
              <a:t>Recall context and generate next follow-up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C6E13E-912D-40EB-84D3-0E13A6A2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00300"/>
            <a:ext cx="11239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BECFC6-AE23-4467-AC38-A622D993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971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3B3A"/>
                </a:solidFill>
              </a:defRPr>
            </a:pPr>
            <a:r>
              <a:rPr sz="1800" b="1">
                <a:solidFill>
                  <a:srgbClr val="103B3A"/>
                </a:solidFill>
              </a:rPr>
              <a:t>Dashboard shows lead status, timeline, memory, outreach records, and verifiable artifacts.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5FBE2D-84D9-4B16-B75B-78D2B110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CA09D"/>
                </a:solidFill>
              </a:defRPr>
            </a:pPr>
            <a:r>
              <a:rPr sz="750" b="0">
                <a:solidFill>
                  <a:srgbClr val="8CA09D"/>
                </a:solidFill>
              </a:rPr>
              <a:t>Auto Lead Flow  /  5</a:t>
            </a:r>
          </a:p>
        </p:txBody>
      </p:sp>
    </p:spTree>
    <p:extLst>
      <p:ext uri="{BB962C8B-B14F-4D97-AF65-F5344CB8AC3E}">
        <p14:creationId xmlns:p14="http://schemas.microsoft.com/office/powerpoint/2010/main" val="6936601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C1029F-17D5-422E-A742-4CF648D3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9048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3B3A"/>
                </a:solidFill>
              </a:defRPr>
            </a:pPr>
            <a:r>
              <a:rPr sz="2700" b="1">
                <a:solidFill>
                  <a:srgbClr val="103B3A"/>
                </a:solidFill>
              </a:rPr>
              <a:t>Core Capabilities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0B0CE7-7831-4A75-818E-2DCC684A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E"/>
                </a:solidFill>
              </a:defRPr>
            </a:pPr>
            <a:r>
              <a:rPr sz="1350" b="0">
                <a:solidFill>
                  <a:srgbClr val="58706E"/>
                </a:solidFill>
              </a:rPr>
              <a:t>围绕社交获客真实工作流，而不是只做 CRM 页面。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327D5F-AAA9-4D77-8601-DED4637D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62100"/>
            <a:ext cx="4762500" cy="1619250"/>
          </a:xfrm>
          <a:prstGeom xmlns:a="http://schemas.openxmlformats.org/drawingml/2006/main" prst="roundRect">
            <a:avLst>
              <a:gd name="adj" fmla="val 1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09B570-9A14-4897-8527-D3B08C1A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6210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F2B781-8416-43D8-9505-402FBBD1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3B3A"/>
                </a:solidFill>
              </a:defRPr>
            </a:pPr>
            <a:r>
              <a:rPr sz="1650" b="1">
                <a:solidFill>
                  <a:srgbClr val="103B3A"/>
                </a:solidFill>
              </a:rPr>
              <a:t>Social Lead Discovery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38C2AF-4F5F-4F15-B126-C355C147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09800"/>
            <a:ext cx="4267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8706E"/>
                </a:solidFill>
              </a:defRPr>
            </a:pPr>
            <a:r>
              <a:rPr sz="1275" b="0">
                <a:solidFill>
                  <a:srgbClr val="58706E"/>
                </a:solidFill>
              </a:rPr>
              <a:t>Search posts and comments for buying intent, then turn unstructured social content into leads.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B35242-5337-4C16-AE53-1535036D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562100"/>
            <a:ext cx="4762500" cy="1619250"/>
          </a:xfrm>
          <a:prstGeom xmlns:a="http://schemas.openxmlformats.org/drawingml/2006/main" prst="roundRect">
            <a:avLst>
              <a:gd name="adj" fmla="val 1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7C7C5-BA28-46B8-8DCC-B69085F6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56210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4D"/>
          </a:solidFill>
          <a:ln xmlns:a="http://schemas.openxmlformats.org/drawingml/2006/main" w="0">
            <a:solidFill>
              <a:srgbClr val="F9734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499B25-277E-4BF0-A59D-74A8C94C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7907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3B3A"/>
                </a:solidFill>
              </a:defRPr>
            </a:pPr>
            <a:r>
              <a:rPr sz="1650" b="1">
                <a:solidFill>
                  <a:srgbClr val="103B3A"/>
                </a:solidFill>
              </a:rPr>
              <a:t>Real-device Outreach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E28F8B-23CF-4FA9-B40F-23F8B71C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09800"/>
            <a:ext cx="4267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8706E"/>
                </a:solidFill>
              </a:defRPr>
            </a:pPr>
            <a:r>
              <a:rPr sz="1275" b="0">
                <a:solidFill>
                  <a:srgbClr val="58706E"/>
                </a:solidFill>
              </a:rPr>
              <a:t>Send first-touch private messages through a real social app account on a real Android phone.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39E88D-AB9D-4D0E-A16A-09C395785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90950"/>
            <a:ext cx="4762500" cy="1619250"/>
          </a:xfrm>
          <a:prstGeom xmlns:a="http://schemas.openxmlformats.org/drawingml/2006/main" prst="roundRect">
            <a:avLst>
              <a:gd name="adj" fmla="val 1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77A907-E029-465C-A650-F177B0BF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9095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82B10A-0D78-4A83-BC9D-799E024A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195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3B3A"/>
                </a:solidFill>
              </a:defRPr>
            </a:pPr>
            <a:r>
              <a:rPr sz="1650" b="1">
                <a:solidFill>
                  <a:srgbClr val="103B3A"/>
                </a:solidFill>
              </a:rPr>
              <a:t>Configurable Industry 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425F7E-5AA8-442A-985B-8CFB9C94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4267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8706E"/>
                </a:solidFill>
              </a:defRPr>
            </a:pPr>
            <a:r>
              <a:rPr sz="1275" b="0">
                <a:solidFill>
                  <a:srgbClr val="58706E"/>
                </a:solidFill>
              </a:rPr>
              <a:t>Use playbooks to configure role, tone, qualification fields, and follow-up strategy.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3BC340-4248-4DE8-8A3A-8B025E51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4762500" cy="1619250"/>
          </a:xfrm>
          <a:prstGeom xmlns:a="http://schemas.openxmlformats.org/drawingml/2006/main" prst="roundRect">
            <a:avLst>
              <a:gd name="adj" fmla="val 1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7DDACE-EAE0-4718-8D9B-836F1DAF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A7A5A7-5A3D-4AF6-B7A9-8B96E66B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195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3B3A"/>
                </a:solidFill>
              </a:defRPr>
            </a:pPr>
            <a:r>
              <a:rPr sz="1650" b="1">
                <a:solidFill>
                  <a:srgbClr val="103B3A"/>
                </a:solidFill>
              </a:rPr>
              <a:t>Long-term Follow-up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23DFF4-96AC-4EB3-B0CF-B92EF235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38650"/>
            <a:ext cx="4267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8706E"/>
                </a:solidFill>
              </a:defRPr>
            </a:pPr>
            <a:r>
              <a:rPr sz="1275" b="0">
                <a:solidFill>
                  <a:srgbClr val="58706E"/>
                </a:solidFill>
              </a:rPr>
              <a:t>Recall customer context across sessions and workers, then continue multi-touch conversion.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11CB93-D450-4189-9ED0-690E3F44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CA09D"/>
                </a:solidFill>
              </a:defRPr>
            </a:pPr>
            <a:r>
              <a:rPr sz="750" b="0">
                <a:solidFill>
                  <a:srgbClr val="8CA09D"/>
                </a:solidFill>
              </a:rPr>
              <a:t>Auto Lead Flow  /  6</a:t>
            </a:r>
          </a:p>
        </p:txBody>
      </p:sp>
    </p:spTree>
    <p:extLst>
      <p:ext uri="{BB962C8B-B14F-4D97-AF65-F5344CB8AC3E}">
        <p14:creationId xmlns:p14="http://schemas.microsoft.com/office/powerpoint/2010/main" val="12802340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150064-6F64-451B-868F-1A3AD659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9048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3B3A"/>
                </a:solidFill>
              </a:defRPr>
            </a:pPr>
            <a:r>
              <a:rPr sz="2700" b="1">
                <a:solidFill>
                  <a:srgbClr val="103B3A"/>
                </a:solidFill>
              </a:rPr>
              <a:t>Why Walrus: Make Agent Actions Verifiable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A9AF57-53C9-4F45-ACD6-CB23ACAD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E"/>
                </a:solidFill>
              </a:defRPr>
            </a:pPr>
            <a:r>
              <a:rPr sz="1350" b="0">
                <a:solidFill>
                  <a:srgbClr val="58706E"/>
                </a:solidFill>
              </a:rPr>
              <a:t>Agent 自动化不是黑箱，每一步业务动作都能留下可验证记录。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3234F-F707-4550-A2B6-31F74124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38350"/>
            <a:ext cx="4000500" cy="209550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02D2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Black-box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automation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E0A911-3EF6-43BF-B5C2-DB0CB113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38350"/>
            <a:ext cx="4000500" cy="209550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B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03B3A"/>
                </a:solidFill>
              </a:defRPr>
            </a:pPr>
            <a:r>
              <a:rPr sz="2550" b="1">
                <a:solidFill>
                  <a:srgbClr val="103B3A"/>
                </a:solidFill>
              </a:rPr>
              <a:t>Verifiable</a:t>
            </a:r>
          </a:p>
          <a:p xmlns:a="http://schemas.openxmlformats.org/drawingml/2006/main">
            <a:pPr algn="ctr">
              <a:defRPr sz="2550" b="1">
                <a:solidFill>
                  <a:srgbClr val="103B3A"/>
                </a:solidFill>
              </a:defRPr>
            </a:pPr>
            <a:r>
              <a:rPr sz="2550" b="1">
                <a:solidFill>
                  <a:srgbClr val="103B3A"/>
                </a:solidFill>
              </a:rPr>
              <a:t>business records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07767A-06AD-4257-BB9E-89AC5AFC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009900"/>
            <a:ext cx="2114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9734D"/>
          </a:solidFill>
          <a:ln xmlns:a="http://schemas.openxmlformats.org/drawingml/2006/main" w="0">
            <a:solidFill>
              <a:srgbClr val="F9734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18436-FCC2-4466-BEAC-8F6042D9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9530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Source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3A7CFD-F060-4CB2-8556-613F7813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9530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9734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9734D"/>
                </a:solidFill>
              </a:defRPr>
            </a:pPr>
            <a:r>
              <a:rPr sz="1050" b="1">
                <a:solidFill>
                  <a:srgbClr val="F9734D"/>
                </a:solidFill>
              </a:rPr>
              <a:t>Scoring report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84A363-0C1E-4E4D-80A7-23338241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Outreach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2A6EA-83B8-4E9A-B738-7CCF23C7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Trace + handoff proof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FC2001-7AA0-4147-8E11-017B207C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0055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8706E"/>
                </a:solidFill>
              </a:defRPr>
            </a:pPr>
            <a:r>
              <a:rPr sz="1500" b="0">
                <a:solidFill>
                  <a:srgbClr val="58706E"/>
                </a:solidFill>
              </a:rPr>
              <a:t>Walrus stores immutable artifacts that explain what the agent saw, decided, sent, and handed off.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4DC805-D8D2-4C1F-B4AE-607A8016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CA09D"/>
                </a:solidFill>
              </a:defRPr>
            </a:pPr>
            <a:r>
              <a:rPr sz="750" b="0">
                <a:solidFill>
                  <a:srgbClr val="8CA09D"/>
                </a:solidFill>
              </a:rPr>
              <a:t>Auto Lead Flow  /  7</a:t>
            </a:r>
          </a:p>
        </p:txBody>
      </p:sp>
    </p:spTree>
    <p:extLst>
      <p:ext uri="{BB962C8B-B14F-4D97-AF65-F5344CB8AC3E}">
        <p14:creationId xmlns:p14="http://schemas.microsoft.com/office/powerpoint/2010/main" val="13478024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26A73A-5992-4F1E-8781-9D7593DC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9048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03B3A"/>
                </a:solidFill>
              </a:defRPr>
            </a:pPr>
            <a:r>
              <a:rPr sz="2700" b="1">
                <a:solidFill>
                  <a:srgbClr val="103B3A"/>
                </a:solidFill>
              </a:rPr>
              <a:t>Beyond Real Estate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6FF23B-2A6F-46F9-A10C-5E159768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706E"/>
                </a:solidFill>
              </a:defRPr>
            </a:pPr>
            <a:r>
              <a:rPr sz="1350" b="0">
                <a:solidFill>
                  <a:srgbClr val="58706E"/>
                </a:solidFill>
              </a:rPr>
              <a:t>当前 demo 是小红书 + 房产销售，但系统边界是可配置行业获客 Agent。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77DA58-7347-4AC0-A413-BF7AC963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866900"/>
            <a:ext cx="3619500" cy="160020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Playbook-configured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Sales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8AE662-0E01-4F5E-9713-2D2BC4DF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9734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9734D"/>
                </a:solidFill>
              </a:defRPr>
            </a:pPr>
            <a:r>
              <a:rPr sz="1050" b="1">
                <a:solidFill>
                  <a:srgbClr val="F9734D"/>
                </a:solidFill>
              </a:rPr>
              <a:t>Real Estate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BBF2C-7E50-4C89-BAA5-2F36D0BF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719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Automotive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B23D83-603D-4FD4-92C5-AEDE0EB9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1719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Education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FE88C3-28DD-41C1-A626-B8CA157E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719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Insurance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E65A4D-91C9-4E12-9D1E-FD40CC24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Home Renovation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012BE-CD85-44B7-9141-040829ED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719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B2B SaaS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5FEB2D-690C-4845-A550-A6137ACE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338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3B9C8"/>
                </a:solidFill>
              </a:defRPr>
            </a:pPr>
            <a:r>
              <a:rPr sz="1350" b="1">
                <a:solidFill>
                  <a:srgbClr val="13B9C8"/>
                </a:solidFill>
              </a:rPr>
              <a:t>Scenario playbooks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7D1CC2-44D3-4702-8B2E-C843F1D6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82930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8706E"/>
                </a:solidFill>
              </a:defRPr>
            </a:pPr>
            <a:r>
              <a:rPr sz="1350" b="0">
                <a:solidFill>
                  <a:srgbClr val="58706E"/>
                </a:solidFill>
              </a:rPr>
              <a:t>Any high-consideration sales workflow with social intent, repeated outreach, and long decision cycles can adapt the same engine.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510BD-B85A-44E2-BFC5-FA15DB32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CA09D"/>
                </a:solidFill>
              </a:defRPr>
            </a:pPr>
            <a:r>
              <a:rPr sz="750" b="0">
                <a:solidFill>
                  <a:srgbClr val="8CA09D"/>
                </a:solidFill>
              </a:rPr>
              <a:t>Auto Lead Flow  /  8</a:t>
            </a:r>
          </a:p>
        </p:txBody>
      </p:sp>
    </p:spTree>
    <p:extLst>
      <p:ext uri="{BB962C8B-B14F-4D97-AF65-F5344CB8AC3E}">
        <p14:creationId xmlns:p14="http://schemas.microsoft.com/office/powerpoint/2010/main" val="11337527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3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cf973d518545f1"/>
          <a:stretch xmlns:a="http://schemas.openxmlformats.org/drawingml/2006/main"/>
        </p:blipFill>
        <p:spPr>
          <a:xfrm xmlns:a="http://schemas.openxmlformats.org/drawingml/2006/main">
            <a:off x="742950" y="914400"/>
            <a:ext cx="2476500" cy="247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7685C-3D8E-4C21-8687-1A688E9D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104900"/>
            <a:ext cx="723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Turn Social Intent</a:t>
            </a:r>
          </a:p>
          <a:p xmlns:a="http://schemas.openxmlformats.org/drawingml/2006/main">
            <a:pPr algn="l"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into Verifiable Outreach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F7431F-F34A-4FD0-BD61-F1BC1106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0289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CEEF1"/>
                </a:solidFill>
              </a:defRPr>
            </a:pPr>
            <a:r>
              <a:rPr sz="1800" b="0">
                <a:solidFill>
                  <a:srgbClr val="BCEEF1"/>
                </a:solidFill>
              </a:rPr>
              <a:t>Discover, qualify, reach out, and follow up with high-intent social leads automatically.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EE4C5C-42B2-4DA6-B249-6C01FB3D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94335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把社交平台上的购买意向，自动转化为可验证、可持续跟进的客户触达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3A6E2-6A05-42E2-A93F-C2560688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101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Discover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8C70B-E62F-46BD-92D4-81A75284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0101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Qualify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DD7C8-456C-480B-8CEA-CF76F2AF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095875"/>
            <a:ext cx="266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EE255A-8857-461D-B713-3988ED99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0101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9734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9734D"/>
                </a:solidFill>
              </a:defRPr>
            </a:pPr>
            <a:r>
              <a:rPr sz="1050" b="1">
                <a:solidFill>
                  <a:srgbClr val="F9734D"/>
                </a:solidFill>
              </a:rPr>
              <a:t>Outreach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3DB260-C05E-475E-9344-6A967582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95875"/>
            <a:ext cx="266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9734D"/>
          </a:solidFill>
          <a:ln xmlns:a="http://schemas.openxmlformats.org/drawingml/2006/main" w="0">
            <a:solidFill>
              <a:srgbClr val="F973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4B5C1E-640B-49E6-ADDD-86A0A1B1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101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</a:defRPr>
            </a:pPr>
            <a:r>
              <a:rPr sz="1050" b="1">
                <a:solidFill>
                  <a:srgbClr val="0F766E"/>
                </a:solidFill>
              </a:rPr>
              <a:t>Follow-up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4487F5-7FC8-475D-A83F-6092BA2B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095875"/>
            <a:ext cx="266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B9C8"/>
          </a:solidFill>
          <a:ln xmlns:a="http://schemas.openxmlformats.org/drawingml/2006/main" w="0">
            <a:solidFill>
              <a:srgbClr val="13B9C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599343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2026-06-19T05:08:48.9750000Z</dcterms:created>
  <dcterms:modified xsi:type="dcterms:W3CDTF">2026-06-19T05:08:48.9750000Z</dcterms:modified>
</coreProperties>
</file>